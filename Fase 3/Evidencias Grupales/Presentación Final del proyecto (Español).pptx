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odec Pro Ultra-Bold" panose="020B0604020202020204" charset="0"/>
      <p:regular r:id="rId24"/>
    </p:embeddedFont>
    <p:embeddedFont>
      <p:font typeface="Garet Ultra-Bold" panose="020B0604020202020204" charset="0"/>
      <p:regular r:id="rId25"/>
    </p:embeddedFont>
    <p:embeddedFont>
      <p:font typeface="Gotham" panose="020B0604020202020204" charset="0"/>
      <p:regular r:id="rId26"/>
    </p:embeddedFont>
    <p:embeddedFont>
      <p:font typeface="Gotham Bold" panose="020B0604020202020204" charset="0"/>
      <p:regular r:id="rId27"/>
    </p:embeddedFont>
    <p:embeddedFont>
      <p:font typeface="Montserrat" panose="00000500000000000000" pitchFamily="2" charset="0"/>
      <p:regular r:id="rId28"/>
    </p:embeddedFont>
    <p:embeddedFont>
      <p:font typeface="Montserrat Bold" panose="020B0604020202020204" charset="0"/>
      <p:regular r:id="rId29"/>
    </p:embeddedFont>
    <p:embeddedFont>
      <p:font typeface="Montserrat Ultra-Bold" panose="020B0604020202020204" charset="0"/>
      <p:regular r:id="rId30"/>
    </p:embeddedFont>
    <p:embeddedFont>
      <p:font typeface="Open Sans" panose="020B0606030504020204" pitchFamily="34" charset="0"/>
      <p:regular r:id="rId31"/>
    </p:embeddedFont>
    <p:embeddedFont>
      <p:font typeface="Open Sauce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2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61.svg"/><Relationship Id="rId2" Type="http://schemas.openxmlformats.org/officeDocument/2006/relationships/image" Target="../media/image3.png"/><Relationship Id="rId16" Type="http://schemas.openxmlformats.org/officeDocument/2006/relationships/image" Target="../media/image4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11" Type="http://schemas.openxmlformats.org/officeDocument/2006/relationships/image" Target="../media/image60.png"/><Relationship Id="rId5" Type="http://schemas.openxmlformats.org/officeDocument/2006/relationships/image" Target="../media/image56.png"/><Relationship Id="rId15" Type="http://schemas.openxmlformats.org/officeDocument/2006/relationships/image" Target="../media/image46.png"/><Relationship Id="rId10" Type="http://schemas.openxmlformats.org/officeDocument/2006/relationships/image" Target="../media/image59.svg"/><Relationship Id="rId4" Type="http://schemas.openxmlformats.org/officeDocument/2006/relationships/image" Target="../media/image51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82443" y="2274721"/>
            <a:ext cx="6482911" cy="7261916"/>
          </a:xfrm>
          <a:custGeom>
            <a:avLst/>
            <a:gdLst/>
            <a:ahLst/>
            <a:cxnLst/>
            <a:rect l="l" t="t" r="r" b="b"/>
            <a:pathLst>
              <a:path w="6482911" h="7261916">
                <a:moveTo>
                  <a:pt x="0" y="0"/>
                </a:moveTo>
                <a:lnTo>
                  <a:pt x="6482911" y="0"/>
                </a:lnTo>
                <a:lnTo>
                  <a:pt x="6482911" y="7261916"/>
                </a:lnTo>
                <a:lnTo>
                  <a:pt x="0" y="7261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3245" y="293587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4059" y="2338648"/>
            <a:ext cx="4580898" cy="1023075"/>
            <a:chOff x="0" y="0"/>
            <a:chExt cx="1252898" cy="279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2898" cy="279816"/>
            </a:xfrm>
            <a:custGeom>
              <a:avLst/>
              <a:gdLst/>
              <a:ahLst/>
              <a:cxnLst/>
              <a:rect l="l" t="t" r="r" b="b"/>
              <a:pathLst>
                <a:path w="1252898" h="279816">
                  <a:moveTo>
                    <a:pt x="49011" y="0"/>
                  </a:moveTo>
                  <a:lnTo>
                    <a:pt x="1203887" y="0"/>
                  </a:lnTo>
                  <a:cubicBezTo>
                    <a:pt x="1216885" y="0"/>
                    <a:pt x="1229352" y="5164"/>
                    <a:pt x="1238543" y="14355"/>
                  </a:cubicBezTo>
                  <a:cubicBezTo>
                    <a:pt x="1247734" y="23546"/>
                    <a:pt x="1252898" y="36013"/>
                    <a:pt x="1252898" y="49011"/>
                  </a:cubicBezTo>
                  <a:lnTo>
                    <a:pt x="1252898" y="230805"/>
                  </a:lnTo>
                  <a:cubicBezTo>
                    <a:pt x="1252898" y="243803"/>
                    <a:pt x="1247734" y="256270"/>
                    <a:pt x="1238543" y="265461"/>
                  </a:cubicBezTo>
                  <a:cubicBezTo>
                    <a:pt x="1229352" y="274652"/>
                    <a:pt x="1216885" y="279816"/>
                    <a:pt x="1203887" y="279816"/>
                  </a:cubicBezTo>
                  <a:lnTo>
                    <a:pt x="49011" y="279816"/>
                  </a:lnTo>
                  <a:cubicBezTo>
                    <a:pt x="36013" y="279816"/>
                    <a:pt x="23546" y="274652"/>
                    <a:pt x="14355" y="265461"/>
                  </a:cubicBezTo>
                  <a:cubicBezTo>
                    <a:pt x="5164" y="256270"/>
                    <a:pt x="0" y="243803"/>
                    <a:pt x="0" y="230805"/>
                  </a:cubicBezTo>
                  <a:lnTo>
                    <a:pt x="0" y="49011"/>
                  </a:lnTo>
                  <a:cubicBezTo>
                    <a:pt x="0" y="36013"/>
                    <a:pt x="5164" y="23546"/>
                    <a:pt x="14355" y="14355"/>
                  </a:cubicBezTo>
                  <a:cubicBezTo>
                    <a:pt x="23546" y="5164"/>
                    <a:pt x="36013" y="0"/>
                    <a:pt x="490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252898" cy="403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02865" y="2274721"/>
            <a:ext cx="4743285" cy="1150931"/>
          </a:xfrm>
          <a:custGeom>
            <a:avLst/>
            <a:gdLst/>
            <a:ahLst/>
            <a:cxnLst/>
            <a:rect l="l" t="t" r="r" b="b"/>
            <a:pathLst>
              <a:path w="4743285" h="1150931">
                <a:moveTo>
                  <a:pt x="0" y="0"/>
                </a:moveTo>
                <a:lnTo>
                  <a:pt x="4743285" y="0"/>
                </a:lnTo>
                <a:lnTo>
                  <a:pt x="4743285" y="1150931"/>
                </a:lnTo>
                <a:lnTo>
                  <a:pt x="0" y="1150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0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028700" y="3661230"/>
            <a:ext cx="10331518" cy="333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1"/>
              </a:lnSpc>
            </a:pPr>
            <a:r>
              <a:rPr lang="en-US" sz="6992" b="1" spc="-573">
                <a:solidFill>
                  <a:srgbClr val="003356"/>
                </a:solidFill>
                <a:latin typeface="Gotham Bold"/>
                <a:ea typeface="Gotham Bold"/>
                <a:cs typeface="Gotham Bold"/>
                <a:sym typeface="Gotham Bold"/>
              </a:rPr>
              <a:t>Sistema de Gestión de procesos de reclutamiento y selección.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580131"/>
            <a:ext cx="8952757" cy="208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37"/>
              </a:lnSpc>
              <a:spcBef>
                <a:spcPct val="0"/>
              </a:spcBef>
            </a:pPr>
            <a:r>
              <a:rPr lang="en-US" sz="25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2547" u="none" strike="noStrike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resentado por:</a:t>
            </a:r>
          </a:p>
          <a:p>
            <a:pPr marL="550100" lvl="1" indent="-275050" algn="l">
              <a:lnSpc>
                <a:spcPts val="3337"/>
              </a:lnSpc>
              <a:buFont typeface="Arial"/>
              <a:buChar char="•"/>
            </a:pPr>
            <a:r>
              <a:rPr lang="en-US" sz="2547" u="none" strike="noStrike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Aldo Arroyo</a:t>
            </a:r>
          </a:p>
          <a:p>
            <a:pPr marL="550100" lvl="1" indent="-275050" algn="l">
              <a:lnSpc>
                <a:spcPts val="3337"/>
              </a:lnSpc>
              <a:buFont typeface="Arial"/>
              <a:buChar char="•"/>
            </a:pPr>
            <a:r>
              <a:rPr lang="en-US" sz="2547" u="none" strike="noStrike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Nicolás Navarro </a:t>
            </a:r>
          </a:p>
          <a:p>
            <a:pPr marL="550100" lvl="1" indent="-275050" algn="l">
              <a:lnSpc>
                <a:spcPts val="3337"/>
              </a:lnSpc>
              <a:buFont typeface="Arial"/>
              <a:buChar char="•"/>
            </a:pPr>
            <a:r>
              <a:rPr lang="en-US" sz="2547" u="none" strike="noStrike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Gabriela Sandoval</a:t>
            </a:r>
          </a:p>
          <a:p>
            <a:pPr marL="0" lvl="0" indent="0" algn="l">
              <a:lnSpc>
                <a:spcPts val="3337"/>
              </a:lnSpc>
              <a:spcBef>
                <a:spcPct val="0"/>
              </a:spcBef>
            </a:pPr>
            <a:endParaRPr lang="en-US" sz="2547" u="none" strike="noStrike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67839" y="1389435"/>
            <a:ext cx="1043812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 b="1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 del proyecto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035175" y="2620455"/>
            <a:ext cx="4491709" cy="6779186"/>
            <a:chOff x="0" y="0"/>
            <a:chExt cx="1228504" cy="1854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8504" cy="1854141"/>
            </a:xfrm>
            <a:custGeom>
              <a:avLst/>
              <a:gdLst/>
              <a:ahLst/>
              <a:cxnLst/>
              <a:rect l="l" t="t" r="r" b="b"/>
              <a:pathLst>
                <a:path w="1228504" h="1854141">
                  <a:moveTo>
                    <a:pt x="49984" y="0"/>
                  </a:moveTo>
                  <a:lnTo>
                    <a:pt x="1178520" y="0"/>
                  </a:lnTo>
                  <a:cubicBezTo>
                    <a:pt x="1191777" y="0"/>
                    <a:pt x="1204490" y="5266"/>
                    <a:pt x="1213864" y="14640"/>
                  </a:cubicBezTo>
                  <a:cubicBezTo>
                    <a:pt x="1223238" y="24014"/>
                    <a:pt x="1228504" y="36728"/>
                    <a:pt x="1228504" y="49984"/>
                  </a:cubicBezTo>
                  <a:lnTo>
                    <a:pt x="1228504" y="1804156"/>
                  </a:lnTo>
                  <a:cubicBezTo>
                    <a:pt x="1228504" y="1817413"/>
                    <a:pt x="1223238" y="1830126"/>
                    <a:pt x="1213864" y="1839500"/>
                  </a:cubicBezTo>
                  <a:cubicBezTo>
                    <a:pt x="1204490" y="1848874"/>
                    <a:pt x="1191777" y="1854141"/>
                    <a:pt x="1178520" y="1854141"/>
                  </a:cubicBezTo>
                  <a:lnTo>
                    <a:pt x="49984" y="1854141"/>
                  </a:lnTo>
                  <a:cubicBezTo>
                    <a:pt x="36728" y="1854141"/>
                    <a:pt x="24014" y="1848874"/>
                    <a:pt x="14640" y="1839500"/>
                  </a:cubicBezTo>
                  <a:cubicBezTo>
                    <a:pt x="5266" y="1830126"/>
                    <a:pt x="0" y="1817413"/>
                    <a:pt x="0" y="1804156"/>
                  </a:cubicBezTo>
                  <a:lnTo>
                    <a:pt x="0" y="49984"/>
                  </a:lnTo>
                  <a:cubicBezTo>
                    <a:pt x="0" y="36728"/>
                    <a:pt x="5266" y="24014"/>
                    <a:pt x="14640" y="14640"/>
                  </a:cubicBezTo>
                  <a:cubicBezTo>
                    <a:pt x="24014" y="5266"/>
                    <a:pt x="36728" y="0"/>
                    <a:pt x="4998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1228504" cy="1977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658930" y="3051857"/>
            <a:ext cx="1242465" cy="1242465"/>
          </a:xfrm>
          <a:custGeom>
            <a:avLst/>
            <a:gdLst/>
            <a:ahLst/>
            <a:cxnLst/>
            <a:rect l="l" t="t" r="r" b="b"/>
            <a:pathLst>
              <a:path w="1242465" h="1242465">
                <a:moveTo>
                  <a:pt x="0" y="0"/>
                </a:moveTo>
                <a:lnTo>
                  <a:pt x="1242465" y="0"/>
                </a:lnTo>
                <a:lnTo>
                  <a:pt x="1242465" y="1242466"/>
                </a:lnTo>
                <a:lnTo>
                  <a:pt x="0" y="1242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2111759" y="7352035"/>
            <a:ext cx="4310350" cy="175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1585" spc="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1585" u="none" strike="noStrike" spc="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mplementación de autenticación y autorización en el backend (JWT, middleware, roles y permisos), desarrollo del Módulo 1, 3 y 7 y participación en planificación, diseño, pruebas y cierre del proyecto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64366" y="4367065"/>
            <a:ext cx="223332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4"/>
              </a:lnSpc>
              <a:spcBef>
                <a:spcPct val="0"/>
              </a:spcBef>
            </a:pPr>
            <a:r>
              <a:rPr lang="en-US" sz="2499" b="1">
                <a:solidFill>
                  <a:srgbClr val="00BCD4"/>
                </a:solidFill>
                <a:latin typeface="Gotham Bold"/>
                <a:ea typeface="Gotham Bold"/>
                <a:cs typeface="Gotham Bold"/>
                <a:sym typeface="Gotham Bold"/>
              </a:rPr>
              <a:t>Aldo Arroyo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81520" y="5119081"/>
            <a:ext cx="3799019" cy="78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59" b="1" spc="64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Desarrollador Full-Stack / Módulos Específicos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98384" y="2620455"/>
            <a:ext cx="4491709" cy="6779186"/>
            <a:chOff x="0" y="0"/>
            <a:chExt cx="1228504" cy="18541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8504" cy="1854141"/>
            </a:xfrm>
            <a:custGeom>
              <a:avLst/>
              <a:gdLst/>
              <a:ahLst/>
              <a:cxnLst/>
              <a:rect l="l" t="t" r="r" b="b"/>
              <a:pathLst>
                <a:path w="1228504" h="1854141">
                  <a:moveTo>
                    <a:pt x="49984" y="0"/>
                  </a:moveTo>
                  <a:lnTo>
                    <a:pt x="1178520" y="0"/>
                  </a:lnTo>
                  <a:cubicBezTo>
                    <a:pt x="1191777" y="0"/>
                    <a:pt x="1204490" y="5266"/>
                    <a:pt x="1213864" y="14640"/>
                  </a:cubicBezTo>
                  <a:cubicBezTo>
                    <a:pt x="1223238" y="24014"/>
                    <a:pt x="1228504" y="36728"/>
                    <a:pt x="1228504" y="49984"/>
                  </a:cubicBezTo>
                  <a:lnTo>
                    <a:pt x="1228504" y="1804156"/>
                  </a:lnTo>
                  <a:cubicBezTo>
                    <a:pt x="1228504" y="1817413"/>
                    <a:pt x="1223238" y="1830126"/>
                    <a:pt x="1213864" y="1839500"/>
                  </a:cubicBezTo>
                  <a:cubicBezTo>
                    <a:pt x="1204490" y="1848874"/>
                    <a:pt x="1191777" y="1854141"/>
                    <a:pt x="1178520" y="1854141"/>
                  </a:cubicBezTo>
                  <a:lnTo>
                    <a:pt x="49984" y="1854141"/>
                  </a:lnTo>
                  <a:cubicBezTo>
                    <a:pt x="36728" y="1854141"/>
                    <a:pt x="24014" y="1848874"/>
                    <a:pt x="14640" y="1839500"/>
                  </a:cubicBezTo>
                  <a:cubicBezTo>
                    <a:pt x="5266" y="1830126"/>
                    <a:pt x="0" y="1817413"/>
                    <a:pt x="0" y="1804156"/>
                  </a:cubicBezTo>
                  <a:lnTo>
                    <a:pt x="0" y="49984"/>
                  </a:lnTo>
                  <a:cubicBezTo>
                    <a:pt x="0" y="36728"/>
                    <a:pt x="5266" y="24014"/>
                    <a:pt x="14640" y="14640"/>
                  </a:cubicBezTo>
                  <a:cubicBezTo>
                    <a:pt x="24014" y="5266"/>
                    <a:pt x="36728" y="0"/>
                    <a:pt x="4998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1228504" cy="1977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722139" y="3051857"/>
            <a:ext cx="1242465" cy="1242465"/>
          </a:xfrm>
          <a:custGeom>
            <a:avLst/>
            <a:gdLst/>
            <a:ahLst/>
            <a:cxnLst/>
            <a:rect l="l" t="t" r="r" b="b"/>
            <a:pathLst>
              <a:path w="1242465" h="1242465">
                <a:moveTo>
                  <a:pt x="0" y="0"/>
                </a:moveTo>
                <a:lnTo>
                  <a:pt x="1242465" y="0"/>
                </a:lnTo>
                <a:lnTo>
                  <a:pt x="1242465" y="1242466"/>
                </a:lnTo>
                <a:lnTo>
                  <a:pt x="0" y="1242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7203196" y="7352035"/>
            <a:ext cx="4282085" cy="146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1585" spc="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Impl</a:t>
            </a:r>
            <a:r>
              <a:rPr lang="en-US" sz="1585" u="none" strike="noStrike" spc="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ementación del sistema de autenticación en el frontend, desarrollo del perfil del consultor, modulo 2 y 6, participación en planificación, diseño, pruebas y cierre del proyecto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11423" y="4367065"/>
            <a:ext cx="26656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4"/>
              </a:lnSpc>
              <a:spcBef>
                <a:spcPct val="0"/>
              </a:spcBef>
            </a:pPr>
            <a:r>
              <a:rPr lang="en-US" sz="2499" b="1">
                <a:solidFill>
                  <a:srgbClr val="00BCD4"/>
                </a:solidFill>
                <a:latin typeface="Gotham Bold"/>
                <a:ea typeface="Gotham Bold"/>
                <a:cs typeface="Gotham Bold"/>
                <a:sym typeface="Gotham Bold"/>
              </a:rPr>
              <a:t>Nicolás Navarro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161593" y="2620455"/>
            <a:ext cx="4491709" cy="6779186"/>
            <a:chOff x="0" y="0"/>
            <a:chExt cx="1228504" cy="185414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28504" cy="1854141"/>
            </a:xfrm>
            <a:custGeom>
              <a:avLst/>
              <a:gdLst/>
              <a:ahLst/>
              <a:cxnLst/>
              <a:rect l="l" t="t" r="r" b="b"/>
              <a:pathLst>
                <a:path w="1228504" h="1854141">
                  <a:moveTo>
                    <a:pt x="49984" y="0"/>
                  </a:moveTo>
                  <a:lnTo>
                    <a:pt x="1178520" y="0"/>
                  </a:lnTo>
                  <a:cubicBezTo>
                    <a:pt x="1191777" y="0"/>
                    <a:pt x="1204490" y="5266"/>
                    <a:pt x="1213864" y="14640"/>
                  </a:cubicBezTo>
                  <a:cubicBezTo>
                    <a:pt x="1223238" y="24014"/>
                    <a:pt x="1228504" y="36728"/>
                    <a:pt x="1228504" y="49984"/>
                  </a:cubicBezTo>
                  <a:lnTo>
                    <a:pt x="1228504" y="1804156"/>
                  </a:lnTo>
                  <a:cubicBezTo>
                    <a:pt x="1228504" y="1817413"/>
                    <a:pt x="1223238" y="1830126"/>
                    <a:pt x="1213864" y="1839500"/>
                  </a:cubicBezTo>
                  <a:cubicBezTo>
                    <a:pt x="1204490" y="1848874"/>
                    <a:pt x="1191777" y="1854141"/>
                    <a:pt x="1178520" y="1854141"/>
                  </a:cubicBezTo>
                  <a:lnTo>
                    <a:pt x="49984" y="1854141"/>
                  </a:lnTo>
                  <a:cubicBezTo>
                    <a:pt x="36728" y="1854141"/>
                    <a:pt x="24014" y="1848874"/>
                    <a:pt x="14640" y="1839500"/>
                  </a:cubicBezTo>
                  <a:cubicBezTo>
                    <a:pt x="5266" y="1830126"/>
                    <a:pt x="0" y="1817413"/>
                    <a:pt x="0" y="1804156"/>
                  </a:cubicBezTo>
                  <a:lnTo>
                    <a:pt x="0" y="49984"/>
                  </a:lnTo>
                  <a:cubicBezTo>
                    <a:pt x="0" y="36728"/>
                    <a:pt x="5266" y="24014"/>
                    <a:pt x="14640" y="14640"/>
                  </a:cubicBezTo>
                  <a:cubicBezTo>
                    <a:pt x="24014" y="5266"/>
                    <a:pt x="36728" y="0"/>
                    <a:pt x="4998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1228504" cy="1977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785348" y="3051857"/>
            <a:ext cx="1242465" cy="1242465"/>
          </a:xfrm>
          <a:custGeom>
            <a:avLst/>
            <a:gdLst/>
            <a:ahLst/>
            <a:cxnLst/>
            <a:rect l="l" t="t" r="r" b="b"/>
            <a:pathLst>
              <a:path w="1242465" h="1242465">
                <a:moveTo>
                  <a:pt x="0" y="0"/>
                </a:moveTo>
                <a:lnTo>
                  <a:pt x="1242465" y="0"/>
                </a:lnTo>
                <a:lnTo>
                  <a:pt x="1242465" y="1242466"/>
                </a:lnTo>
                <a:lnTo>
                  <a:pt x="0" y="1242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TextBox 23"/>
          <p:cNvSpPr txBox="1"/>
          <p:nvPr/>
        </p:nvSpPr>
        <p:spPr>
          <a:xfrm>
            <a:off x="12564665" y="7352035"/>
            <a:ext cx="3799019" cy="175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1585" spc="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585" u="none" strike="noStrike" spc="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esarrollo completo del perfil de administrador (solicitudes, clientes, usuarios), módulo 4 y 5, y participación en planificación, diseño, pruebas y cierre del proyecto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98494" y="4367065"/>
            <a:ext cx="301617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4"/>
              </a:lnSpc>
              <a:spcBef>
                <a:spcPct val="0"/>
              </a:spcBef>
            </a:pPr>
            <a:r>
              <a:rPr lang="en-US" sz="2499" b="1">
                <a:solidFill>
                  <a:srgbClr val="00BCD4"/>
                </a:solidFill>
                <a:latin typeface="Gotham Bold"/>
                <a:ea typeface="Gotham Bold"/>
                <a:cs typeface="Gotham Bold"/>
                <a:sym typeface="Gotham Bold"/>
              </a:rPr>
              <a:t>Gabriela Sandoval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56868" y="4975561"/>
            <a:ext cx="3968853" cy="163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259" b="1" spc="67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Desarrolladora Full-Stack / Módulos de Administración y Evaluación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18081" y="4975561"/>
            <a:ext cx="3799019" cy="11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59" b="1" spc="64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Desarrollador Full-Stack / Módulos de Candidatos y Alertas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19483" y="6761485"/>
            <a:ext cx="3923093" cy="38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59" b="1" spc="64">
                <a:solidFill>
                  <a:srgbClr val="879099"/>
                </a:solidFill>
                <a:latin typeface="Gotham Bold"/>
                <a:ea typeface="Gotham Bold"/>
                <a:cs typeface="Gotham Bold"/>
                <a:sym typeface="Gotham Bold"/>
              </a:rPr>
              <a:t>Funciones desempeñadas: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81825" y="6761485"/>
            <a:ext cx="3923093" cy="38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59" b="1" spc="64">
                <a:solidFill>
                  <a:srgbClr val="879099"/>
                </a:solidFill>
                <a:latin typeface="Gotham Bold"/>
                <a:ea typeface="Gotham Bold"/>
                <a:cs typeface="Gotham Bold"/>
                <a:sym typeface="Gotham Bold"/>
              </a:rPr>
              <a:t>Funciones desempeñadas: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02628" y="6761485"/>
            <a:ext cx="3923093" cy="38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59" b="1" spc="64">
                <a:solidFill>
                  <a:srgbClr val="879099"/>
                </a:solidFill>
                <a:latin typeface="Gotham Bold"/>
                <a:ea typeface="Gotham Bold"/>
                <a:cs typeface="Gotham Bold"/>
                <a:sym typeface="Gotham Bold"/>
              </a:rPr>
              <a:t>Funciones desempeñadas: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127191" y="1901687"/>
            <a:ext cx="2932542" cy="233980"/>
            <a:chOff x="0" y="0"/>
            <a:chExt cx="3910057" cy="311974"/>
          </a:xfrm>
        </p:grpSpPr>
        <p:grpSp>
          <p:nvGrpSpPr>
            <p:cNvPr id="31" name="Group 31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6064" y="2274776"/>
            <a:ext cx="7451936" cy="7086113"/>
          </a:xfrm>
          <a:custGeom>
            <a:avLst/>
            <a:gdLst/>
            <a:ahLst/>
            <a:cxnLst/>
            <a:rect l="l" t="t" r="r" b="b"/>
            <a:pathLst>
              <a:path w="7451936" h="7086113">
                <a:moveTo>
                  <a:pt x="0" y="0"/>
                </a:moveTo>
                <a:lnTo>
                  <a:pt x="7451936" y="0"/>
                </a:lnTo>
                <a:lnTo>
                  <a:pt x="7451936" y="7086113"/>
                </a:lnTo>
                <a:lnTo>
                  <a:pt x="0" y="7086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846483" y="1502624"/>
            <a:ext cx="7579361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5000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5" name="Freeform 5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7" name="Freeform 7"/>
          <p:cNvSpPr/>
          <p:nvPr/>
        </p:nvSpPr>
        <p:spPr>
          <a:xfrm>
            <a:off x="586696" y="2647424"/>
            <a:ext cx="726252" cy="7127669"/>
          </a:xfrm>
          <a:custGeom>
            <a:avLst/>
            <a:gdLst/>
            <a:ahLst/>
            <a:cxnLst/>
            <a:rect l="l" t="t" r="r" b="b"/>
            <a:pathLst>
              <a:path w="726252" h="7127669">
                <a:moveTo>
                  <a:pt x="0" y="0"/>
                </a:moveTo>
                <a:lnTo>
                  <a:pt x="726253" y="0"/>
                </a:lnTo>
                <a:lnTo>
                  <a:pt x="726253" y="7127668"/>
                </a:lnTo>
                <a:lnTo>
                  <a:pt x="0" y="7127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892270" b="-1911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637230" y="2789273"/>
            <a:ext cx="8506692" cy="1543050"/>
            <a:chOff x="0" y="0"/>
            <a:chExt cx="2240446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0446" cy="406400"/>
            </a:xfrm>
            <a:custGeom>
              <a:avLst/>
              <a:gdLst/>
              <a:ahLst/>
              <a:cxnLst/>
              <a:rect l="l" t="t" r="r" b="b"/>
              <a:pathLst>
                <a:path w="2240446" h="406400">
                  <a:moveTo>
                    <a:pt x="2037246" y="0"/>
                  </a:moveTo>
                  <a:cubicBezTo>
                    <a:pt x="2149470" y="0"/>
                    <a:pt x="2240446" y="90976"/>
                    <a:pt x="2240446" y="203200"/>
                  </a:cubicBezTo>
                  <a:cubicBezTo>
                    <a:pt x="2240446" y="315424"/>
                    <a:pt x="2149470" y="406400"/>
                    <a:pt x="203724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00335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40446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34027" y="3094467"/>
            <a:ext cx="989682" cy="953778"/>
            <a:chOff x="0" y="0"/>
            <a:chExt cx="865109" cy="8337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5109" cy="833723"/>
            </a:xfrm>
            <a:custGeom>
              <a:avLst/>
              <a:gdLst/>
              <a:ahLst/>
              <a:cxnLst/>
              <a:rect l="l" t="t" r="r" b="b"/>
              <a:pathLst>
                <a:path w="865109" h="833723">
                  <a:moveTo>
                    <a:pt x="432554" y="0"/>
                  </a:moveTo>
                  <a:cubicBezTo>
                    <a:pt x="193661" y="0"/>
                    <a:pt x="0" y="186635"/>
                    <a:pt x="0" y="416862"/>
                  </a:cubicBezTo>
                  <a:cubicBezTo>
                    <a:pt x="0" y="647088"/>
                    <a:pt x="193661" y="833723"/>
                    <a:pt x="432554" y="833723"/>
                  </a:cubicBezTo>
                  <a:cubicBezTo>
                    <a:pt x="671447" y="833723"/>
                    <a:pt x="865109" y="647088"/>
                    <a:pt x="865109" y="416862"/>
                  </a:cubicBezTo>
                  <a:cubicBezTo>
                    <a:pt x="865109" y="186635"/>
                    <a:pt x="671447" y="0"/>
                    <a:pt x="432554" y="0"/>
                  </a:cubicBezTo>
                  <a:close/>
                </a:path>
              </a:pathLst>
            </a:custGeom>
            <a:solidFill>
              <a:srgbClr val="00335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04" y="49587"/>
              <a:ext cx="702901" cy="70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538251" y="3149647"/>
            <a:ext cx="5435800" cy="80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5"/>
              </a:lnSpc>
            </a:pPr>
            <a:r>
              <a:rPr lang="en-US" sz="240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405" u="none" strike="noStrike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uplicación, errores y pérdida de datos.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30454" y="3234755"/>
            <a:ext cx="1337964" cy="63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94"/>
              </a:lnSpc>
              <a:spcBef>
                <a:spcPct val="0"/>
              </a:spcBef>
            </a:pPr>
            <a:r>
              <a:rPr lang="en-US" sz="4281" u="none" strike="noStrike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37230" y="4558860"/>
            <a:ext cx="8506692" cy="1543050"/>
            <a:chOff x="0" y="0"/>
            <a:chExt cx="2240446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40446" cy="406400"/>
            </a:xfrm>
            <a:custGeom>
              <a:avLst/>
              <a:gdLst/>
              <a:ahLst/>
              <a:cxnLst/>
              <a:rect l="l" t="t" r="r" b="b"/>
              <a:pathLst>
                <a:path w="2240446" h="406400">
                  <a:moveTo>
                    <a:pt x="2037246" y="0"/>
                  </a:moveTo>
                  <a:cubicBezTo>
                    <a:pt x="2149470" y="0"/>
                    <a:pt x="2240446" y="90976"/>
                    <a:pt x="2240446" y="203200"/>
                  </a:cubicBezTo>
                  <a:cubicBezTo>
                    <a:pt x="2240446" y="315424"/>
                    <a:pt x="2149470" y="406400"/>
                    <a:pt x="203724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0066A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240446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34027" y="4864055"/>
            <a:ext cx="989682" cy="953778"/>
            <a:chOff x="0" y="0"/>
            <a:chExt cx="865109" cy="8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5109" cy="833723"/>
            </a:xfrm>
            <a:custGeom>
              <a:avLst/>
              <a:gdLst/>
              <a:ahLst/>
              <a:cxnLst/>
              <a:rect l="l" t="t" r="r" b="b"/>
              <a:pathLst>
                <a:path w="865109" h="833723">
                  <a:moveTo>
                    <a:pt x="432554" y="0"/>
                  </a:moveTo>
                  <a:cubicBezTo>
                    <a:pt x="193661" y="0"/>
                    <a:pt x="0" y="186635"/>
                    <a:pt x="0" y="416862"/>
                  </a:cubicBezTo>
                  <a:cubicBezTo>
                    <a:pt x="0" y="647088"/>
                    <a:pt x="193661" y="833723"/>
                    <a:pt x="432554" y="833723"/>
                  </a:cubicBezTo>
                  <a:cubicBezTo>
                    <a:pt x="671447" y="833723"/>
                    <a:pt x="865109" y="647088"/>
                    <a:pt x="865109" y="416862"/>
                  </a:cubicBezTo>
                  <a:cubicBezTo>
                    <a:pt x="865109" y="186635"/>
                    <a:pt x="671447" y="0"/>
                    <a:pt x="432554" y="0"/>
                  </a:cubicBezTo>
                  <a:close/>
                </a:path>
              </a:pathLst>
            </a:custGeom>
            <a:solidFill>
              <a:srgbClr val="0066A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104" y="49587"/>
              <a:ext cx="702901" cy="70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538251" y="4919235"/>
            <a:ext cx="5435800" cy="80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5"/>
              </a:lnSpc>
            </a:pPr>
            <a:r>
              <a:rPr lang="en-US" sz="240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405" u="none" strike="noStrike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 trazabilidad ni historial entre etapas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30454" y="4999426"/>
            <a:ext cx="1337964" cy="63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94"/>
              </a:lnSpc>
              <a:spcBef>
                <a:spcPct val="0"/>
              </a:spcBef>
            </a:pPr>
            <a:r>
              <a:rPr lang="en-US" sz="4281" u="none" strike="noStrike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637230" y="6395451"/>
            <a:ext cx="8655823" cy="1543050"/>
            <a:chOff x="0" y="0"/>
            <a:chExt cx="2279723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79723" cy="406400"/>
            </a:xfrm>
            <a:custGeom>
              <a:avLst/>
              <a:gdLst/>
              <a:ahLst/>
              <a:cxnLst/>
              <a:rect l="l" t="t" r="r" b="b"/>
              <a:pathLst>
                <a:path w="2279723" h="406400">
                  <a:moveTo>
                    <a:pt x="2076523" y="0"/>
                  </a:moveTo>
                  <a:cubicBezTo>
                    <a:pt x="2188747" y="0"/>
                    <a:pt x="2279723" y="90976"/>
                    <a:pt x="2279723" y="203200"/>
                  </a:cubicBezTo>
                  <a:cubicBezTo>
                    <a:pt x="2279723" y="315424"/>
                    <a:pt x="2188747" y="406400"/>
                    <a:pt x="20765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00BCD4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2279723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34027" y="6700646"/>
            <a:ext cx="989682" cy="953778"/>
            <a:chOff x="0" y="0"/>
            <a:chExt cx="865109" cy="83372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5109" cy="833723"/>
            </a:xfrm>
            <a:custGeom>
              <a:avLst/>
              <a:gdLst/>
              <a:ahLst/>
              <a:cxnLst/>
              <a:rect l="l" t="t" r="r" b="b"/>
              <a:pathLst>
                <a:path w="865109" h="833723">
                  <a:moveTo>
                    <a:pt x="432554" y="0"/>
                  </a:moveTo>
                  <a:cubicBezTo>
                    <a:pt x="193661" y="0"/>
                    <a:pt x="0" y="186635"/>
                    <a:pt x="0" y="416862"/>
                  </a:cubicBezTo>
                  <a:cubicBezTo>
                    <a:pt x="0" y="647088"/>
                    <a:pt x="193661" y="833723"/>
                    <a:pt x="432554" y="833723"/>
                  </a:cubicBezTo>
                  <a:cubicBezTo>
                    <a:pt x="671447" y="833723"/>
                    <a:pt x="865109" y="647088"/>
                    <a:pt x="865109" y="416862"/>
                  </a:cubicBezTo>
                  <a:cubicBezTo>
                    <a:pt x="865109" y="186635"/>
                    <a:pt x="671447" y="0"/>
                    <a:pt x="432554" y="0"/>
                  </a:cubicBezTo>
                  <a:close/>
                </a:path>
              </a:pathLst>
            </a:custGeom>
            <a:solidFill>
              <a:srgbClr val="00BC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104" y="49587"/>
              <a:ext cx="702901" cy="70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538251" y="6551038"/>
            <a:ext cx="5725623" cy="121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5"/>
              </a:lnSpc>
            </a:pPr>
            <a:r>
              <a:rPr lang="en-US" sz="240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Poco co</a:t>
            </a:r>
            <a:r>
              <a:rPr lang="en-US" sz="2405" u="none" strike="noStrike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ntrol de plazos: no hay alertas ni seguimiento de vencimientos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30454" y="6841246"/>
            <a:ext cx="1337964" cy="63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94"/>
              </a:lnSpc>
              <a:spcBef>
                <a:spcPct val="0"/>
              </a:spcBef>
            </a:pPr>
            <a:r>
              <a:rPr lang="en-US" sz="4281" u="none" strike="noStrike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03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37230" y="8232042"/>
            <a:ext cx="8655823" cy="1543050"/>
            <a:chOff x="0" y="0"/>
            <a:chExt cx="2279723" cy="406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79723" cy="406400"/>
            </a:xfrm>
            <a:custGeom>
              <a:avLst/>
              <a:gdLst/>
              <a:ahLst/>
              <a:cxnLst/>
              <a:rect l="l" t="t" r="r" b="b"/>
              <a:pathLst>
                <a:path w="2279723" h="406400">
                  <a:moveTo>
                    <a:pt x="2076523" y="0"/>
                  </a:moveTo>
                  <a:cubicBezTo>
                    <a:pt x="2188747" y="0"/>
                    <a:pt x="2279723" y="90976"/>
                    <a:pt x="2279723" y="203200"/>
                  </a:cubicBezTo>
                  <a:cubicBezTo>
                    <a:pt x="2279723" y="315424"/>
                    <a:pt x="2188747" y="406400"/>
                    <a:pt x="20765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solidFill>
                <a:srgbClr val="879099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279723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34027" y="8537237"/>
            <a:ext cx="989682" cy="953778"/>
            <a:chOff x="0" y="0"/>
            <a:chExt cx="865109" cy="83372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65109" cy="833723"/>
            </a:xfrm>
            <a:custGeom>
              <a:avLst/>
              <a:gdLst/>
              <a:ahLst/>
              <a:cxnLst/>
              <a:rect l="l" t="t" r="r" b="b"/>
              <a:pathLst>
                <a:path w="865109" h="833723">
                  <a:moveTo>
                    <a:pt x="432554" y="0"/>
                  </a:moveTo>
                  <a:cubicBezTo>
                    <a:pt x="193661" y="0"/>
                    <a:pt x="0" y="186635"/>
                    <a:pt x="0" y="416862"/>
                  </a:cubicBezTo>
                  <a:cubicBezTo>
                    <a:pt x="0" y="647088"/>
                    <a:pt x="193661" y="833723"/>
                    <a:pt x="432554" y="833723"/>
                  </a:cubicBezTo>
                  <a:cubicBezTo>
                    <a:pt x="671447" y="833723"/>
                    <a:pt x="865109" y="647088"/>
                    <a:pt x="865109" y="416862"/>
                  </a:cubicBezTo>
                  <a:cubicBezTo>
                    <a:pt x="865109" y="186635"/>
                    <a:pt x="671447" y="0"/>
                    <a:pt x="432554" y="0"/>
                  </a:cubicBezTo>
                  <a:close/>
                </a:path>
              </a:pathLst>
            </a:custGeom>
            <a:solidFill>
              <a:srgbClr val="8790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104" y="49587"/>
              <a:ext cx="702901" cy="70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7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538251" y="8387629"/>
            <a:ext cx="6605671" cy="121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5"/>
              </a:lnSpc>
            </a:pPr>
            <a:r>
              <a:rPr lang="en-US" sz="240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Falta de visibilidad global: co</a:t>
            </a:r>
            <a:r>
              <a:rPr lang="en-US" sz="2405" u="none" strike="noStrike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nsultores no ven el avance de sus procesos y jefaturas no identifican atrasos ni carga de trabajo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39979" y="8685601"/>
            <a:ext cx="1337964" cy="63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94"/>
              </a:lnSpc>
            </a:pPr>
            <a:r>
              <a:rPr lang="en-US" sz="428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22995" y="907167"/>
            <a:ext cx="695320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999" b="1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6" name="AutoShape 6"/>
          <p:cNvSpPr/>
          <p:nvPr/>
        </p:nvSpPr>
        <p:spPr>
          <a:xfrm>
            <a:off x="1904471" y="3526997"/>
            <a:ext cx="1036992" cy="0"/>
          </a:xfrm>
          <a:prstGeom prst="line">
            <a:avLst/>
          </a:prstGeom>
          <a:ln w="28575" cap="rnd">
            <a:solidFill>
              <a:srgbClr val="0066AB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722995" y="1865820"/>
            <a:ext cx="15371559" cy="45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00"/>
              </a:lnSpc>
              <a:spcBef>
                <a:spcPct val="0"/>
              </a:spcBef>
            </a:pPr>
            <a:r>
              <a:rPr lang="en-US" sz="2466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Desarrollo de una aplicación web, accesible vía internet y optimizada para computadores</a:t>
            </a:r>
          </a:p>
        </p:txBody>
      </p:sp>
      <p:sp>
        <p:nvSpPr>
          <p:cNvPr id="8" name="Freeform 8"/>
          <p:cNvSpPr/>
          <p:nvPr/>
        </p:nvSpPr>
        <p:spPr>
          <a:xfrm>
            <a:off x="13064342" y="5142650"/>
            <a:ext cx="5005142" cy="4550129"/>
          </a:xfrm>
          <a:custGeom>
            <a:avLst/>
            <a:gdLst/>
            <a:ahLst/>
            <a:cxnLst/>
            <a:rect l="l" t="t" r="r" b="b"/>
            <a:pathLst>
              <a:path w="5005142" h="4550129">
                <a:moveTo>
                  <a:pt x="0" y="0"/>
                </a:moveTo>
                <a:lnTo>
                  <a:pt x="5005141" y="0"/>
                </a:lnTo>
                <a:lnTo>
                  <a:pt x="5005141" y="4550128"/>
                </a:lnTo>
                <a:lnTo>
                  <a:pt x="0" y="4550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3197429" y="3144937"/>
            <a:ext cx="14147258" cy="127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0"/>
              </a:lnSpc>
            </a:pPr>
            <a:r>
              <a:rPr lang="en-US" sz="2266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Sistema modular de 7 módulos interconectados que automatiza el ciclo completo: desde la creación de la solicitud, reclutamiento y publicación, presentación de candidatos, evaluación psicolaboral, gestión de contrataciones, hasta el cierre del proceso con control de vacantes.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84736" y="2781417"/>
            <a:ext cx="1519735" cy="1519735"/>
            <a:chOff x="0" y="0"/>
            <a:chExt cx="2026313" cy="20263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313" cy="2026313"/>
            </a:xfrm>
            <a:custGeom>
              <a:avLst/>
              <a:gdLst/>
              <a:ahLst/>
              <a:cxnLst/>
              <a:rect l="l" t="t" r="r" b="b"/>
              <a:pathLst>
                <a:path w="2026313" h="2026313">
                  <a:moveTo>
                    <a:pt x="0" y="0"/>
                  </a:moveTo>
                  <a:lnTo>
                    <a:pt x="2026313" y="0"/>
                  </a:lnTo>
                  <a:lnTo>
                    <a:pt x="2026313" y="2026313"/>
                  </a:lnTo>
                  <a:lnTo>
                    <a:pt x="0" y="202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290052" y="290052"/>
              <a:ext cx="1446209" cy="1446209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33603" y="533603"/>
              <a:ext cx="959107" cy="95910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3215269" y="2661922"/>
            <a:ext cx="5722599" cy="48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71"/>
              </a:lnSpc>
              <a:spcBef>
                <a:spcPct val="0"/>
              </a:spcBef>
            </a:pPr>
            <a:r>
              <a:rPr lang="en-US" sz="2836" b="1" spc="-56">
                <a:solidFill>
                  <a:srgbClr val="0066A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solicitudes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87904" y="5309480"/>
            <a:ext cx="9162673" cy="84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0"/>
              </a:lnSpc>
            </a:pPr>
            <a:r>
              <a:rPr lang="en-US" sz="2266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Sistema de auditoría automático que registra estados, fechas, usuario responsable y su detalle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97429" y="4871052"/>
            <a:ext cx="7251103" cy="48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71"/>
              </a:lnSpc>
              <a:spcBef>
                <a:spcPct val="0"/>
              </a:spcBef>
            </a:pPr>
            <a:r>
              <a:rPr lang="en-US" sz="2836" b="1" spc="-56">
                <a:solidFill>
                  <a:srgbClr val="0066A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Registro único y trazabilidad completa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97429" y="7043874"/>
            <a:ext cx="9061694" cy="84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0"/>
              </a:lnSpc>
            </a:pPr>
            <a:r>
              <a:rPr lang="es-ES" sz="2266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notificaciones internas tanto para consultores y administradores.</a:t>
            </a:r>
            <a:endParaRPr lang="en-US" sz="2266" dirty="0">
              <a:solidFill>
                <a:srgbClr val="003356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167644" y="6597678"/>
            <a:ext cx="9458940" cy="48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71"/>
              </a:lnSpc>
              <a:spcBef>
                <a:spcPct val="0"/>
              </a:spcBef>
            </a:pPr>
            <a:r>
              <a:rPr lang="en-US" sz="2836" b="1" spc="-56">
                <a:solidFill>
                  <a:srgbClr val="0066A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 inteligente de plazos con alertas progresivas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15269" y="9268887"/>
            <a:ext cx="9237564" cy="84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0"/>
              </a:lnSpc>
            </a:pPr>
            <a:r>
              <a:rPr lang="en-US" sz="2266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Visualización con filtros dinámicos  por consultor, tipo de servicio y rango de fechas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67644" y="8316464"/>
            <a:ext cx="9017118" cy="98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71"/>
              </a:lnSpc>
              <a:spcBef>
                <a:spcPct val="0"/>
              </a:spcBef>
            </a:pPr>
            <a:r>
              <a:rPr lang="en-US" sz="2836" b="1" spc="-56">
                <a:solidFill>
                  <a:srgbClr val="0066A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de gestión operacional con actualización en tiempo real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84736" y="4628964"/>
            <a:ext cx="1519735" cy="1519735"/>
            <a:chOff x="0" y="0"/>
            <a:chExt cx="2026313" cy="20263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26313" cy="2026313"/>
            </a:xfrm>
            <a:custGeom>
              <a:avLst/>
              <a:gdLst/>
              <a:ahLst/>
              <a:cxnLst/>
              <a:rect l="l" t="t" r="r" b="b"/>
              <a:pathLst>
                <a:path w="2026313" h="2026313">
                  <a:moveTo>
                    <a:pt x="0" y="0"/>
                  </a:moveTo>
                  <a:lnTo>
                    <a:pt x="2026313" y="0"/>
                  </a:lnTo>
                  <a:lnTo>
                    <a:pt x="2026313" y="2026313"/>
                  </a:lnTo>
                  <a:lnTo>
                    <a:pt x="0" y="202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290052" y="290052"/>
              <a:ext cx="1446209" cy="1446209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603" y="533603"/>
              <a:ext cx="959107" cy="959107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384736" y="6508989"/>
            <a:ext cx="1519735" cy="1519735"/>
            <a:chOff x="0" y="0"/>
            <a:chExt cx="2026313" cy="20263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26313" cy="2026313"/>
            </a:xfrm>
            <a:custGeom>
              <a:avLst/>
              <a:gdLst/>
              <a:ahLst/>
              <a:cxnLst/>
              <a:rect l="l" t="t" r="r" b="b"/>
              <a:pathLst>
                <a:path w="2026313" h="2026313">
                  <a:moveTo>
                    <a:pt x="0" y="0"/>
                  </a:moveTo>
                  <a:lnTo>
                    <a:pt x="2026313" y="0"/>
                  </a:lnTo>
                  <a:lnTo>
                    <a:pt x="2026313" y="2026313"/>
                  </a:lnTo>
                  <a:lnTo>
                    <a:pt x="0" y="202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290052" y="290052"/>
              <a:ext cx="1446209" cy="1446209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33603" y="533603"/>
              <a:ext cx="959107" cy="959107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384736" y="8285899"/>
            <a:ext cx="1519735" cy="1519735"/>
            <a:chOff x="0" y="0"/>
            <a:chExt cx="2026313" cy="20263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26313" cy="2026313"/>
            </a:xfrm>
            <a:custGeom>
              <a:avLst/>
              <a:gdLst/>
              <a:ahLst/>
              <a:cxnLst/>
              <a:rect l="l" t="t" r="r" b="b"/>
              <a:pathLst>
                <a:path w="2026313" h="2026313">
                  <a:moveTo>
                    <a:pt x="0" y="0"/>
                  </a:moveTo>
                  <a:lnTo>
                    <a:pt x="2026313" y="0"/>
                  </a:lnTo>
                  <a:lnTo>
                    <a:pt x="2026313" y="2026313"/>
                  </a:lnTo>
                  <a:lnTo>
                    <a:pt x="0" y="202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290052" y="290052"/>
              <a:ext cx="1446209" cy="1446209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33603" y="533603"/>
              <a:ext cx="959107" cy="959107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sp>
        <p:nvSpPr>
          <p:cNvPr id="49" name="AutoShape 49"/>
          <p:cNvSpPr/>
          <p:nvPr/>
        </p:nvSpPr>
        <p:spPr>
          <a:xfrm>
            <a:off x="1904471" y="5415886"/>
            <a:ext cx="1036992" cy="0"/>
          </a:xfrm>
          <a:prstGeom prst="line">
            <a:avLst/>
          </a:prstGeom>
          <a:ln w="28575" cap="rnd">
            <a:solidFill>
              <a:srgbClr val="0066AB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50" name="AutoShape 50"/>
          <p:cNvSpPr/>
          <p:nvPr/>
        </p:nvSpPr>
        <p:spPr>
          <a:xfrm>
            <a:off x="1904471" y="7237652"/>
            <a:ext cx="1036992" cy="0"/>
          </a:xfrm>
          <a:prstGeom prst="line">
            <a:avLst/>
          </a:prstGeom>
          <a:ln w="28575" cap="rnd">
            <a:solidFill>
              <a:srgbClr val="0066AB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51" name="AutoShape 51"/>
          <p:cNvSpPr/>
          <p:nvPr/>
        </p:nvSpPr>
        <p:spPr>
          <a:xfrm>
            <a:off x="1904471" y="9007439"/>
            <a:ext cx="1036992" cy="0"/>
          </a:xfrm>
          <a:prstGeom prst="line">
            <a:avLst/>
          </a:prstGeom>
          <a:ln w="28575" cap="rnd">
            <a:solidFill>
              <a:srgbClr val="0066AB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55045" y="1514853"/>
            <a:ext cx="6142801" cy="3628647"/>
          </a:xfrm>
          <a:custGeom>
            <a:avLst/>
            <a:gdLst/>
            <a:ahLst/>
            <a:cxnLst/>
            <a:rect l="l" t="t" r="r" b="b"/>
            <a:pathLst>
              <a:path w="6142801" h="3628647">
                <a:moveTo>
                  <a:pt x="0" y="0"/>
                </a:moveTo>
                <a:lnTo>
                  <a:pt x="6142802" y="0"/>
                </a:lnTo>
                <a:lnTo>
                  <a:pt x="6142802" y="3628647"/>
                </a:lnTo>
                <a:lnTo>
                  <a:pt x="0" y="3628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722" b="-5964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065731" y="5368216"/>
            <a:ext cx="12321429" cy="115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35"/>
              </a:lnSpc>
              <a:spcBef>
                <a:spcPct val="0"/>
              </a:spcBef>
            </a:pPr>
            <a:r>
              <a:rPr lang="en-US" sz="7550" b="1">
                <a:solidFill>
                  <a:srgbClr val="0034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</a:t>
            </a:r>
            <a:r>
              <a:rPr lang="en-US" sz="7550" b="1" u="none" strike="noStrike">
                <a:solidFill>
                  <a:srgbClr val="0034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tivo General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5" name="Freeform 5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67136" y="6994205"/>
            <a:ext cx="12537283" cy="234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599" spc="179">
                <a:solidFill>
                  <a:srgbClr val="006577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aplicación web modular que permita registrar y dar trazabilidad a los procesos de reclutamiento, selección y evaluación psicolaboral.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77945" y="4167992"/>
            <a:ext cx="12166077" cy="0"/>
          </a:xfrm>
          <a:prstGeom prst="line">
            <a:avLst/>
          </a:prstGeom>
          <a:ln w="114300" cap="rnd">
            <a:solidFill>
              <a:srgbClr val="00C8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666782" y="3715993"/>
            <a:ext cx="954435" cy="903998"/>
            <a:chOff x="0" y="0"/>
            <a:chExt cx="858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8149" cy="812800"/>
            </a:xfrm>
            <a:custGeom>
              <a:avLst/>
              <a:gdLst/>
              <a:ahLst/>
              <a:cxnLst/>
              <a:rect l="l" t="t" r="r" b="b"/>
              <a:pathLst>
                <a:path w="858149" h="812800">
                  <a:moveTo>
                    <a:pt x="429074" y="0"/>
                  </a:moveTo>
                  <a:cubicBezTo>
                    <a:pt x="192103" y="0"/>
                    <a:pt x="0" y="181951"/>
                    <a:pt x="0" y="406400"/>
                  </a:cubicBezTo>
                  <a:cubicBezTo>
                    <a:pt x="0" y="630849"/>
                    <a:pt x="192103" y="812800"/>
                    <a:pt x="429074" y="812800"/>
                  </a:cubicBezTo>
                  <a:cubicBezTo>
                    <a:pt x="666046" y="812800"/>
                    <a:pt x="858149" y="630849"/>
                    <a:pt x="858149" y="406400"/>
                  </a:cubicBezTo>
                  <a:cubicBezTo>
                    <a:pt x="858149" y="181951"/>
                    <a:pt x="666046" y="0"/>
                    <a:pt x="429074" y="0"/>
                  </a:cubicBezTo>
                  <a:close/>
                </a:path>
              </a:pathLst>
            </a:custGeom>
            <a:solidFill>
              <a:srgbClr val="0034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0451" y="76200"/>
              <a:ext cx="697246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02843" y="3715993"/>
            <a:ext cx="954435" cy="903998"/>
            <a:chOff x="0" y="0"/>
            <a:chExt cx="858149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8149" cy="812800"/>
            </a:xfrm>
            <a:custGeom>
              <a:avLst/>
              <a:gdLst/>
              <a:ahLst/>
              <a:cxnLst/>
              <a:rect l="l" t="t" r="r" b="b"/>
              <a:pathLst>
                <a:path w="858149" h="812800">
                  <a:moveTo>
                    <a:pt x="429074" y="0"/>
                  </a:moveTo>
                  <a:cubicBezTo>
                    <a:pt x="192103" y="0"/>
                    <a:pt x="0" y="181951"/>
                    <a:pt x="0" y="406400"/>
                  </a:cubicBezTo>
                  <a:cubicBezTo>
                    <a:pt x="0" y="630849"/>
                    <a:pt x="192103" y="812800"/>
                    <a:pt x="429074" y="812800"/>
                  </a:cubicBezTo>
                  <a:cubicBezTo>
                    <a:pt x="666046" y="812800"/>
                    <a:pt x="858149" y="630849"/>
                    <a:pt x="858149" y="406400"/>
                  </a:cubicBezTo>
                  <a:cubicBezTo>
                    <a:pt x="858149" y="181951"/>
                    <a:pt x="666046" y="0"/>
                    <a:pt x="429074" y="0"/>
                  </a:cubicBezTo>
                  <a:close/>
                </a:path>
              </a:pathLst>
            </a:custGeom>
            <a:solidFill>
              <a:srgbClr val="0034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451" y="76200"/>
              <a:ext cx="697246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57878" y="3715993"/>
            <a:ext cx="954435" cy="903998"/>
            <a:chOff x="0" y="0"/>
            <a:chExt cx="85814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8149" cy="812800"/>
            </a:xfrm>
            <a:custGeom>
              <a:avLst/>
              <a:gdLst/>
              <a:ahLst/>
              <a:cxnLst/>
              <a:rect l="l" t="t" r="r" b="b"/>
              <a:pathLst>
                <a:path w="858149" h="812800">
                  <a:moveTo>
                    <a:pt x="429074" y="0"/>
                  </a:moveTo>
                  <a:cubicBezTo>
                    <a:pt x="192103" y="0"/>
                    <a:pt x="0" y="181951"/>
                    <a:pt x="0" y="406400"/>
                  </a:cubicBezTo>
                  <a:cubicBezTo>
                    <a:pt x="0" y="630849"/>
                    <a:pt x="192103" y="812800"/>
                    <a:pt x="429074" y="812800"/>
                  </a:cubicBezTo>
                  <a:cubicBezTo>
                    <a:pt x="666046" y="812800"/>
                    <a:pt x="858149" y="630849"/>
                    <a:pt x="858149" y="406400"/>
                  </a:cubicBezTo>
                  <a:cubicBezTo>
                    <a:pt x="858149" y="181951"/>
                    <a:pt x="666046" y="0"/>
                    <a:pt x="429074" y="0"/>
                  </a:cubicBezTo>
                  <a:close/>
                </a:path>
              </a:pathLst>
            </a:custGeom>
            <a:solidFill>
              <a:srgbClr val="0034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51" y="76200"/>
              <a:ext cx="697246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060910" y="3996542"/>
            <a:ext cx="31086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9"/>
              </a:lnSpc>
              <a:spcBef>
                <a:spcPct val="0"/>
              </a:spcBef>
            </a:pPr>
            <a:r>
              <a:rPr lang="en-US" sz="229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75788" y="3977492"/>
            <a:ext cx="31086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9"/>
              </a:lnSpc>
              <a:spcBef>
                <a:spcPct val="0"/>
              </a:spcBef>
            </a:pPr>
            <a:r>
              <a:rPr lang="en-US" sz="229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7945" y="3996542"/>
            <a:ext cx="31086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21736" y="1870280"/>
            <a:ext cx="11044527" cy="115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35"/>
              </a:lnSpc>
              <a:spcBef>
                <a:spcPct val="0"/>
              </a:spcBef>
            </a:pPr>
            <a:r>
              <a:rPr lang="en-US" sz="7550" b="1">
                <a:solidFill>
                  <a:srgbClr val="0034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Objetivos Específicos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838135" y="5498224"/>
            <a:ext cx="4987470" cy="2701532"/>
            <a:chOff x="0" y="0"/>
            <a:chExt cx="2156922" cy="11683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6922" cy="1168326"/>
            </a:xfrm>
            <a:custGeom>
              <a:avLst/>
              <a:gdLst/>
              <a:ahLst/>
              <a:cxnLst/>
              <a:rect l="l" t="t" r="r" b="b"/>
              <a:pathLst>
                <a:path w="2156922" h="1168326">
                  <a:moveTo>
                    <a:pt x="45016" y="0"/>
                  </a:moveTo>
                  <a:lnTo>
                    <a:pt x="2111906" y="0"/>
                  </a:lnTo>
                  <a:cubicBezTo>
                    <a:pt x="2123845" y="0"/>
                    <a:pt x="2135295" y="4743"/>
                    <a:pt x="2143737" y="13185"/>
                  </a:cubicBezTo>
                  <a:cubicBezTo>
                    <a:pt x="2152179" y="21627"/>
                    <a:pt x="2156922" y="33077"/>
                    <a:pt x="2156922" y="45016"/>
                  </a:cubicBezTo>
                  <a:lnTo>
                    <a:pt x="2156922" y="1123310"/>
                  </a:lnTo>
                  <a:cubicBezTo>
                    <a:pt x="2156922" y="1135249"/>
                    <a:pt x="2152179" y="1146699"/>
                    <a:pt x="2143737" y="1155142"/>
                  </a:cubicBezTo>
                  <a:cubicBezTo>
                    <a:pt x="2135295" y="1163584"/>
                    <a:pt x="2123845" y="1168326"/>
                    <a:pt x="2111906" y="1168326"/>
                  </a:cubicBezTo>
                  <a:lnTo>
                    <a:pt x="45016" y="1168326"/>
                  </a:lnTo>
                  <a:cubicBezTo>
                    <a:pt x="33077" y="1168326"/>
                    <a:pt x="21627" y="1163584"/>
                    <a:pt x="13185" y="1155142"/>
                  </a:cubicBezTo>
                  <a:cubicBezTo>
                    <a:pt x="4743" y="1146699"/>
                    <a:pt x="0" y="1135249"/>
                    <a:pt x="0" y="1123310"/>
                  </a:cubicBezTo>
                  <a:lnTo>
                    <a:pt x="0" y="45016"/>
                  </a:lnTo>
                  <a:cubicBezTo>
                    <a:pt x="0" y="33077"/>
                    <a:pt x="4743" y="21627"/>
                    <a:pt x="13185" y="13185"/>
                  </a:cubicBezTo>
                  <a:cubicBezTo>
                    <a:pt x="21627" y="4743"/>
                    <a:pt x="33077" y="0"/>
                    <a:pt x="4501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C8E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56922" cy="122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3153"/>
                </a:lnSpc>
                <a:spcBef>
                  <a:spcPct val="0"/>
                </a:spcBef>
              </a:pPr>
              <a:r>
                <a:rPr lang="en-US" sz="2159" b="1" u="none" strike="noStrike" spc="64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Centralizar la gestión de los servicios contando con el 70% de los casos totales en el sistema dentro de 6 meses implementada la solución.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1457" y="5498224"/>
            <a:ext cx="4948661" cy="2701532"/>
            <a:chOff x="0" y="0"/>
            <a:chExt cx="2140138" cy="116832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0138" cy="1168326"/>
            </a:xfrm>
            <a:custGeom>
              <a:avLst/>
              <a:gdLst/>
              <a:ahLst/>
              <a:cxnLst/>
              <a:rect l="l" t="t" r="r" b="b"/>
              <a:pathLst>
                <a:path w="2140138" h="1168326">
                  <a:moveTo>
                    <a:pt x="45369" y="0"/>
                  </a:moveTo>
                  <a:lnTo>
                    <a:pt x="2094769" y="0"/>
                  </a:lnTo>
                  <a:cubicBezTo>
                    <a:pt x="2119826" y="0"/>
                    <a:pt x="2140138" y="20312"/>
                    <a:pt x="2140138" y="45369"/>
                  </a:cubicBezTo>
                  <a:lnTo>
                    <a:pt x="2140138" y="1122957"/>
                  </a:lnTo>
                  <a:cubicBezTo>
                    <a:pt x="2140138" y="1148014"/>
                    <a:pt x="2119826" y="1168326"/>
                    <a:pt x="2094769" y="1168326"/>
                  </a:cubicBezTo>
                  <a:lnTo>
                    <a:pt x="45369" y="1168326"/>
                  </a:lnTo>
                  <a:cubicBezTo>
                    <a:pt x="20312" y="1168326"/>
                    <a:pt x="0" y="1148014"/>
                    <a:pt x="0" y="1122957"/>
                  </a:cubicBezTo>
                  <a:lnTo>
                    <a:pt x="0" y="45369"/>
                  </a:lnTo>
                  <a:cubicBezTo>
                    <a:pt x="0" y="20312"/>
                    <a:pt x="20312" y="0"/>
                    <a:pt x="4536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C8E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40138" cy="1225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3153"/>
                </a:lnSpc>
                <a:spcBef>
                  <a:spcPct val="0"/>
                </a:spcBef>
              </a:pPr>
              <a:r>
                <a:rPr lang="en-US" sz="2159" b="1" u="none" strike="noStrike" spc="64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Contar con una trazabilidad del 90% de los procesos dentro de los 6 meses de implementada la solución. </a:t>
              </a:r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23" name="Freeform 2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04477" y="5498224"/>
            <a:ext cx="5257804" cy="2701532"/>
            <a:chOff x="0" y="0"/>
            <a:chExt cx="1438035" cy="73888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38035" cy="738882"/>
            </a:xfrm>
            <a:custGeom>
              <a:avLst/>
              <a:gdLst/>
              <a:ahLst/>
              <a:cxnLst/>
              <a:rect l="l" t="t" r="r" b="b"/>
              <a:pathLst>
                <a:path w="1438035" h="738882">
                  <a:moveTo>
                    <a:pt x="42701" y="0"/>
                  </a:moveTo>
                  <a:lnTo>
                    <a:pt x="1395334" y="0"/>
                  </a:lnTo>
                  <a:cubicBezTo>
                    <a:pt x="1418917" y="0"/>
                    <a:pt x="1438035" y="19118"/>
                    <a:pt x="1438035" y="42701"/>
                  </a:cubicBezTo>
                  <a:lnTo>
                    <a:pt x="1438035" y="696181"/>
                  </a:lnTo>
                  <a:cubicBezTo>
                    <a:pt x="1438035" y="719764"/>
                    <a:pt x="1418917" y="738882"/>
                    <a:pt x="1395334" y="738882"/>
                  </a:cubicBezTo>
                  <a:lnTo>
                    <a:pt x="42701" y="738882"/>
                  </a:lnTo>
                  <a:cubicBezTo>
                    <a:pt x="19118" y="738882"/>
                    <a:pt x="0" y="719764"/>
                    <a:pt x="0" y="696181"/>
                  </a:cubicBezTo>
                  <a:lnTo>
                    <a:pt x="0" y="42701"/>
                  </a:lnTo>
                  <a:cubicBezTo>
                    <a:pt x="0" y="19118"/>
                    <a:pt x="19118" y="0"/>
                    <a:pt x="427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C8E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438035" cy="796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3153"/>
                </a:lnSpc>
                <a:spcBef>
                  <a:spcPct val="0"/>
                </a:spcBef>
              </a:pPr>
              <a:r>
                <a:rPr lang="en-US" sz="2159" b="1" u="none" strike="noStrike" spc="64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Alcanzar adopción inicial con al menos 80% de los usuarios ingresando y realizando operaciones dentro de 6 meses posteriores a la capacitación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3786" y="1262259"/>
            <a:ext cx="44928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5000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23786" y="2266670"/>
            <a:ext cx="14334069" cy="7693008"/>
            <a:chOff x="0" y="0"/>
            <a:chExt cx="19112091" cy="1025734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9112091" cy="1171994"/>
              <a:chOff x="0" y="0"/>
              <a:chExt cx="3775228" cy="23150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75228" cy="231505"/>
              </a:xfrm>
              <a:custGeom>
                <a:avLst/>
                <a:gdLst/>
                <a:ahLst/>
                <a:cxnLst/>
                <a:rect l="l" t="t" r="r" b="b"/>
                <a:pathLst>
                  <a:path w="3775228" h="231505">
                    <a:moveTo>
                      <a:pt x="0" y="0"/>
                    </a:moveTo>
                    <a:lnTo>
                      <a:pt x="3775228" y="0"/>
                    </a:lnTo>
                    <a:lnTo>
                      <a:pt x="3775228" y="231505"/>
                    </a:lnTo>
                    <a:lnTo>
                      <a:pt x="0" y="231505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19050"/>
                <a:ext cx="3775228" cy="212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El entregable principal será una plataforma web dividida en 7 módulos.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873727" y="1121194"/>
              <a:ext cx="14238364" cy="1313736"/>
              <a:chOff x="0" y="0"/>
              <a:chExt cx="2812516" cy="25950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812516" cy="259503"/>
              </a:xfrm>
              <a:custGeom>
                <a:avLst/>
                <a:gdLst/>
                <a:ahLst/>
                <a:cxnLst/>
                <a:rect l="l" t="t" r="r" b="b"/>
                <a:pathLst>
                  <a:path w="2812516" h="259503">
                    <a:moveTo>
                      <a:pt x="0" y="0"/>
                    </a:moveTo>
                    <a:lnTo>
                      <a:pt x="2812516" y="0"/>
                    </a:lnTo>
                    <a:lnTo>
                      <a:pt x="2812516" y="259503"/>
                    </a:lnTo>
                    <a:lnTo>
                      <a:pt x="0" y="259503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19050"/>
                <a:ext cx="2812516" cy="240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Visualización de las solicitudes ingresadas por administrador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741206" y="2371430"/>
              <a:ext cx="14370886" cy="1393172"/>
              <a:chOff x="0" y="0"/>
              <a:chExt cx="2838693" cy="27519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38694" cy="275194"/>
              </a:xfrm>
              <a:custGeom>
                <a:avLst/>
                <a:gdLst/>
                <a:ahLst/>
                <a:cxnLst/>
                <a:rect l="l" t="t" r="r" b="b"/>
                <a:pathLst>
                  <a:path w="2838694" h="275194">
                    <a:moveTo>
                      <a:pt x="0" y="0"/>
                    </a:moveTo>
                    <a:lnTo>
                      <a:pt x="2838694" y="0"/>
                    </a:lnTo>
                    <a:lnTo>
                      <a:pt x="2838694" y="275194"/>
                    </a:lnTo>
                    <a:lnTo>
                      <a:pt x="0" y="275194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19050"/>
                <a:ext cx="2838693" cy="256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Registro y reclutamiento de candidatos por portal de publicación laboral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1121194"/>
              <a:ext cx="5094597" cy="1313736"/>
              <a:chOff x="0" y="0"/>
              <a:chExt cx="1006340" cy="25950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06340" cy="259503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59503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59503"/>
                    </a:lnTo>
                    <a:lnTo>
                      <a:pt x="0" y="259503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9050"/>
                <a:ext cx="1006340" cy="240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1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2371430"/>
              <a:ext cx="5094597" cy="1393172"/>
              <a:chOff x="0" y="0"/>
              <a:chExt cx="1006340" cy="27519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06340" cy="275194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75194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75194"/>
                    </a:lnTo>
                    <a:lnTo>
                      <a:pt x="0" y="275194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1006340" cy="256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2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741206" y="3726502"/>
              <a:ext cx="14370886" cy="1393172"/>
              <a:chOff x="0" y="0"/>
              <a:chExt cx="2838693" cy="27519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38694" cy="275194"/>
              </a:xfrm>
              <a:custGeom>
                <a:avLst/>
                <a:gdLst/>
                <a:ahLst/>
                <a:cxnLst/>
                <a:rect l="l" t="t" r="r" b="b"/>
                <a:pathLst>
                  <a:path w="2838694" h="275194">
                    <a:moveTo>
                      <a:pt x="0" y="0"/>
                    </a:moveTo>
                    <a:lnTo>
                      <a:pt x="2838694" y="0"/>
                    </a:lnTo>
                    <a:lnTo>
                      <a:pt x="2838694" y="275194"/>
                    </a:lnTo>
                    <a:lnTo>
                      <a:pt x="0" y="27519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19050"/>
                <a:ext cx="2838693" cy="256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Presentación de candidatos preseleccionados a cliente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3713802"/>
              <a:ext cx="5094597" cy="1393172"/>
              <a:chOff x="0" y="0"/>
              <a:chExt cx="1006340" cy="27519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06340" cy="275194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75194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75194"/>
                    </a:lnTo>
                    <a:lnTo>
                      <a:pt x="0" y="27519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19050"/>
                <a:ext cx="1006340" cy="256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3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741206" y="5047302"/>
              <a:ext cx="14370886" cy="1166714"/>
              <a:chOff x="0" y="0"/>
              <a:chExt cx="2838693" cy="2304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838694" cy="230462"/>
              </a:xfrm>
              <a:custGeom>
                <a:avLst/>
                <a:gdLst/>
                <a:ahLst/>
                <a:cxnLst/>
                <a:rect l="l" t="t" r="r" b="b"/>
                <a:pathLst>
                  <a:path w="2838694" h="230462">
                    <a:moveTo>
                      <a:pt x="0" y="0"/>
                    </a:moveTo>
                    <a:lnTo>
                      <a:pt x="2838694" y="0"/>
                    </a:lnTo>
                    <a:lnTo>
                      <a:pt x="2838694" y="230462"/>
                    </a:lnTo>
                    <a:lnTo>
                      <a:pt x="0" y="230462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19050"/>
                <a:ext cx="2838693" cy="211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Evaluación psicolaboral de candidatos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20" y="5047302"/>
              <a:ext cx="5094597" cy="1166714"/>
              <a:chOff x="0" y="0"/>
              <a:chExt cx="1006340" cy="23046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06340" cy="230462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30462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30462"/>
                    </a:lnTo>
                    <a:lnTo>
                      <a:pt x="0" y="230462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19050"/>
                <a:ext cx="1006340" cy="211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4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873727" y="6175916"/>
              <a:ext cx="14238364" cy="1393172"/>
              <a:chOff x="0" y="0"/>
              <a:chExt cx="2812516" cy="27519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812516" cy="275194"/>
              </a:xfrm>
              <a:custGeom>
                <a:avLst/>
                <a:gdLst/>
                <a:ahLst/>
                <a:cxnLst/>
                <a:rect l="l" t="t" r="r" b="b"/>
                <a:pathLst>
                  <a:path w="2812516" h="275194">
                    <a:moveTo>
                      <a:pt x="0" y="0"/>
                    </a:moveTo>
                    <a:lnTo>
                      <a:pt x="2812516" y="0"/>
                    </a:lnTo>
                    <a:lnTo>
                      <a:pt x="2812516" y="275194"/>
                    </a:lnTo>
                    <a:lnTo>
                      <a:pt x="0" y="27519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19050"/>
                <a:ext cx="2812516" cy="256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    Presentación de terna a cliente  y gestión de las contrataciones de los candidatos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220" y="6175916"/>
              <a:ext cx="5094597" cy="1393172"/>
              <a:chOff x="0" y="0"/>
              <a:chExt cx="1006340" cy="27519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006340" cy="275194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75194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75194"/>
                    </a:lnTo>
                    <a:lnTo>
                      <a:pt x="0" y="27519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19050"/>
                <a:ext cx="1006340" cy="256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5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873727" y="7534816"/>
              <a:ext cx="14238364" cy="1366806"/>
              <a:chOff x="0" y="0"/>
              <a:chExt cx="2812516" cy="26998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812516" cy="269986"/>
              </a:xfrm>
              <a:custGeom>
                <a:avLst/>
                <a:gdLst/>
                <a:ahLst/>
                <a:cxnLst/>
                <a:rect l="l" t="t" r="r" b="b"/>
                <a:pathLst>
                  <a:path w="2812516" h="269986">
                    <a:moveTo>
                      <a:pt x="0" y="0"/>
                    </a:moveTo>
                    <a:lnTo>
                      <a:pt x="2812516" y="0"/>
                    </a:lnTo>
                    <a:lnTo>
                      <a:pt x="2812516" y="269986"/>
                    </a:lnTo>
                    <a:lnTo>
                      <a:pt x="0" y="269986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19050"/>
                <a:ext cx="2812516" cy="2509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Alertas y control de plazos de los procesos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220" y="7534816"/>
              <a:ext cx="5094597" cy="1366806"/>
              <a:chOff x="0" y="0"/>
              <a:chExt cx="1006340" cy="26998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006340" cy="269986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69986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69986"/>
                    </a:lnTo>
                    <a:lnTo>
                      <a:pt x="0" y="269986"/>
                    </a:lnTo>
                    <a:close/>
                  </a:path>
                </a:pathLst>
              </a:custGeom>
              <a:solidFill>
                <a:srgbClr val="D3FB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9050"/>
                <a:ext cx="1006340" cy="2509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6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4864507" y="8839088"/>
              <a:ext cx="14238364" cy="1418255"/>
              <a:chOff x="0" y="0"/>
              <a:chExt cx="2812516" cy="280149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812516" cy="280149"/>
              </a:xfrm>
              <a:custGeom>
                <a:avLst/>
                <a:gdLst/>
                <a:ahLst/>
                <a:cxnLst/>
                <a:rect l="l" t="t" r="r" b="b"/>
                <a:pathLst>
                  <a:path w="2812516" h="280149">
                    <a:moveTo>
                      <a:pt x="0" y="0"/>
                    </a:moveTo>
                    <a:lnTo>
                      <a:pt x="2812516" y="0"/>
                    </a:lnTo>
                    <a:lnTo>
                      <a:pt x="2812516" y="280149"/>
                    </a:lnTo>
                    <a:lnTo>
                      <a:pt x="0" y="28014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19050"/>
                <a:ext cx="2812516" cy="2610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Reportes con filtros por consultor/fecha/estado de servicios.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0" y="8839088"/>
              <a:ext cx="5094597" cy="1418255"/>
              <a:chOff x="0" y="0"/>
              <a:chExt cx="1006340" cy="28014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006340" cy="280149"/>
              </a:xfrm>
              <a:custGeom>
                <a:avLst/>
                <a:gdLst/>
                <a:ahLst/>
                <a:cxnLst/>
                <a:rect l="l" t="t" r="r" b="b"/>
                <a:pathLst>
                  <a:path w="1006340" h="280149">
                    <a:moveTo>
                      <a:pt x="0" y="0"/>
                    </a:moveTo>
                    <a:lnTo>
                      <a:pt x="1006340" y="0"/>
                    </a:lnTo>
                    <a:lnTo>
                      <a:pt x="1006340" y="280149"/>
                    </a:lnTo>
                    <a:lnTo>
                      <a:pt x="0" y="28014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C8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19050"/>
                <a:ext cx="1006340" cy="2610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20"/>
                  </a:lnSpc>
                  <a:spcBef>
                    <a:spcPct val="0"/>
                  </a:spcBef>
                </a:pPr>
                <a:r>
                  <a:rPr lang="en-US" sz="2200" b="1">
                    <a:solidFill>
                      <a:srgbClr val="006577"/>
                    </a:solidFill>
                    <a:latin typeface="Garet Ultra-Bold"/>
                    <a:ea typeface="Garet Ultra-Bold"/>
                    <a:cs typeface="Garet Ultra-Bold"/>
                    <a:sym typeface="Garet Ultra-Bold"/>
                  </a:rPr>
                  <a:t>Módulo 7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13107" y="2437026"/>
            <a:ext cx="5699598" cy="6503690"/>
          </a:xfrm>
          <a:custGeom>
            <a:avLst/>
            <a:gdLst/>
            <a:ahLst/>
            <a:cxnLst/>
            <a:rect l="l" t="t" r="r" b="b"/>
            <a:pathLst>
              <a:path w="5699598" h="6503690">
                <a:moveTo>
                  <a:pt x="0" y="0"/>
                </a:moveTo>
                <a:lnTo>
                  <a:pt x="5699598" y="0"/>
                </a:lnTo>
                <a:lnTo>
                  <a:pt x="5699598" y="6503690"/>
                </a:lnTo>
                <a:lnTo>
                  <a:pt x="0" y="6503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05679" y="1161857"/>
            <a:ext cx="4489335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Restricciones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5679" y="4623386"/>
            <a:ext cx="357753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Limitaciones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23688" y="5455871"/>
            <a:ext cx="10911562" cy="4539071"/>
            <a:chOff x="0" y="0"/>
            <a:chExt cx="2984366" cy="12414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84366" cy="1241458"/>
            </a:xfrm>
            <a:custGeom>
              <a:avLst/>
              <a:gdLst/>
              <a:ahLst/>
              <a:cxnLst/>
              <a:rect l="l" t="t" r="r" b="b"/>
              <a:pathLst>
                <a:path w="2984366" h="1241458">
                  <a:moveTo>
                    <a:pt x="20576" y="0"/>
                  </a:moveTo>
                  <a:lnTo>
                    <a:pt x="2963790" y="0"/>
                  </a:lnTo>
                  <a:cubicBezTo>
                    <a:pt x="2969247" y="0"/>
                    <a:pt x="2974481" y="2168"/>
                    <a:pt x="2978339" y="6027"/>
                  </a:cubicBezTo>
                  <a:cubicBezTo>
                    <a:pt x="2982198" y="9885"/>
                    <a:pt x="2984366" y="15119"/>
                    <a:pt x="2984366" y="20576"/>
                  </a:cubicBezTo>
                  <a:lnTo>
                    <a:pt x="2984366" y="1220882"/>
                  </a:lnTo>
                  <a:cubicBezTo>
                    <a:pt x="2984366" y="1232246"/>
                    <a:pt x="2975154" y="1241458"/>
                    <a:pt x="2963790" y="1241458"/>
                  </a:cubicBezTo>
                  <a:lnTo>
                    <a:pt x="20576" y="1241458"/>
                  </a:lnTo>
                  <a:cubicBezTo>
                    <a:pt x="15119" y="1241458"/>
                    <a:pt x="9885" y="1239290"/>
                    <a:pt x="6027" y="1235432"/>
                  </a:cubicBezTo>
                  <a:cubicBezTo>
                    <a:pt x="2168" y="1231573"/>
                    <a:pt x="0" y="1226339"/>
                    <a:pt x="0" y="1220882"/>
                  </a:cubicBezTo>
                  <a:lnTo>
                    <a:pt x="0" y="20576"/>
                  </a:lnTo>
                  <a:cubicBezTo>
                    <a:pt x="0" y="15119"/>
                    <a:pt x="2168" y="9885"/>
                    <a:pt x="6027" y="6027"/>
                  </a:cubicBezTo>
                  <a:cubicBezTo>
                    <a:pt x="9885" y="2168"/>
                    <a:pt x="15119" y="0"/>
                    <a:pt x="2057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C8E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984366" cy="1308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52684" lvl="1" indent="-276342" algn="l">
                <a:lnSpc>
                  <a:spcPts val="3737"/>
                </a:lnSpc>
                <a:buFont typeface="Arial"/>
                <a:buChar char="•"/>
              </a:pPr>
              <a:r>
                <a:rPr lang="en-US" sz="2559" b="1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Tiempo: semestre de 18 semanas </a:t>
              </a:r>
              <a:r>
                <a:rPr lang="en-US" sz="2559" b="1" u="none" strike="noStrike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con hitos fijos.</a:t>
              </a:r>
            </a:p>
            <a:p>
              <a:pPr marL="552684" lvl="1" indent="-276342" algn="l">
                <a:lnSpc>
                  <a:spcPts val="3737"/>
                </a:lnSpc>
                <a:buFont typeface="Arial"/>
                <a:buChar char="•"/>
              </a:pPr>
              <a:r>
                <a:rPr lang="en-US" sz="2559" b="1" u="none" strike="noStrike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Recursos: uso de herramientas disponibles y de código abierto; sin presupuesto para servicios de pago.</a:t>
              </a:r>
            </a:p>
            <a:p>
              <a:pPr marL="552684" lvl="1" indent="-276342" algn="l">
                <a:lnSpc>
                  <a:spcPts val="3737"/>
                </a:lnSpc>
                <a:buFont typeface="Arial"/>
                <a:buChar char="•"/>
              </a:pPr>
              <a:r>
                <a:rPr lang="en-US" sz="2559" b="1" u="none" strike="noStrike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Equipo/Operación: equipo de 3 con dedicación parcial y validaciones sujetas a agenda del cliente.</a:t>
              </a:r>
            </a:p>
            <a:p>
              <a:pPr marL="552684" lvl="1" indent="-276342" algn="l">
                <a:lnSpc>
                  <a:spcPts val="3737"/>
                </a:lnSpc>
                <a:buFont typeface="Arial"/>
                <a:buChar char="•"/>
              </a:pPr>
              <a:r>
                <a:rPr lang="en-US" sz="2559" b="1" u="none" strike="noStrike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Existen procesos que no fueron incorporados, ya que excedían el alcance académico definido para el proyecto, como procesos adicionales fuera de los cinco módulos principales y un módulo de facturación.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3688" y="1993352"/>
            <a:ext cx="11003017" cy="2161098"/>
            <a:chOff x="0" y="0"/>
            <a:chExt cx="3009379" cy="5910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09379" cy="591071"/>
            </a:xfrm>
            <a:custGeom>
              <a:avLst/>
              <a:gdLst/>
              <a:ahLst/>
              <a:cxnLst/>
              <a:rect l="l" t="t" r="r" b="b"/>
              <a:pathLst>
                <a:path w="3009379" h="591071">
                  <a:moveTo>
                    <a:pt x="20405" y="0"/>
                  </a:moveTo>
                  <a:lnTo>
                    <a:pt x="2988974" y="0"/>
                  </a:lnTo>
                  <a:cubicBezTo>
                    <a:pt x="2994386" y="0"/>
                    <a:pt x="2999576" y="2150"/>
                    <a:pt x="3003403" y="5976"/>
                  </a:cubicBezTo>
                  <a:cubicBezTo>
                    <a:pt x="3007229" y="9803"/>
                    <a:pt x="3009379" y="14993"/>
                    <a:pt x="3009379" y="20405"/>
                  </a:cubicBezTo>
                  <a:lnTo>
                    <a:pt x="3009379" y="570666"/>
                  </a:lnTo>
                  <a:cubicBezTo>
                    <a:pt x="3009379" y="581935"/>
                    <a:pt x="3000244" y="591071"/>
                    <a:pt x="2988974" y="591071"/>
                  </a:cubicBezTo>
                  <a:lnTo>
                    <a:pt x="20405" y="591071"/>
                  </a:lnTo>
                  <a:cubicBezTo>
                    <a:pt x="14993" y="591071"/>
                    <a:pt x="9803" y="588921"/>
                    <a:pt x="5976" y="585095"/>
                  </a:cubicBezTo>
                  <a:cubicBezTo>
                    <a:pt x="2150" y="581268"/>
                    <a:pt x="0" y="576078"/>
                    <a:pt x="0" y="570666"/>
                  </a:cubicBezTo>
                  <a:lnTo>
                    <a:pt x="0" y="20405"/>
                  </a:lnTo>
                  <a:cubicBezTo>
                    <a:pt x="0" y="9136"/>
                    <a:pt x="9136" y="0"/>
                    <a:pt x="204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C8E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009379" cy="657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52684" lvl="1" indent="-276342" algn="l">
                <a:lnSpc>
                  <a:spcPts val="3737"/>
                </a:lnSpc>
                <a:buFont typeface="Arial"/>
                <a:buChar char="•"/>
              </a:pPr>
              <a:r>
                <a:rPr lang="en-US" sz="2559" b="1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No se </a:t>
              </a:r>
              <a:r>
                <a:rPr lang="en-US" sz="2559" b="1" u="none" strike="noStrike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utilizará inteligencia artificial en ningún módulo de  la plataforma</a:t>
              </a:r>
            </a:p>
            <a:p>
              <a:pPr marL="552684" lvl="1" indent="-276342" algn="l">
                <a:lnSpc>
                  <a:spcPts val="3737"/>
                </a:lnSpc>
                <a:buFont typeface="Arial"/>
                <a:buChar char="•"/>
              </a:pPr>
              <a:r>
                <a:rPr lang="en-US" sz="2559" b="1" u="none" strike="noStrike" spc="76">
                  <a:solidFill>
                    <a:srgbClr val="8790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No se conectará con portales de publicación laboral externas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722770" y="5384362"/>
            <a:ext cx="4346713" cy="4346713"/>
            <a:chOff x="0" y="0"/>
            <a:chExt cx="5795617" cy="57956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95617" cy="5795617"/>
            </a:xfrm>
            <a:custGeom>
              <a:avLst/>
              <a:gdLst/>
              <a:ahLst/>
              <a:cxnLst/>
              <a:rect l="l" t="t" r="r" b="b"/>
              <a:pathLst>
                <a:path w="5795617" h="5795617">
                  <a:moveTo>
                    <a:pt x="0" y="0"/>
                  </a:moveTo>
                  <a:lnTo>
                    <a:pt x="5795617" y="0"/>
                  </a:lnTo>
                  <a:lnTo>
                    <a:pt x="5795617" y="5795617"/>
                  </a:lnTo>
                  <a:lnTo>
                    <a:pt x="0" y="5795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2076133"/>
              <a:ext cx="1634521" cy="1643351"/>
              <a:chOff x="0" y="0"/>
              <a:chExt cx="305642" cy="30729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05642" cy="307293"/>
              </a:xfrm>
              <a:custGeom>
                <a:avLst/>
                <a:gdLst/>
                <a:ahLst/>
                <a:cxnLst/>
                <a:rect l="l" t="t" r="r" b="b"/>
                <a:pathLst>
                  <a:path w="305642" h="307293">
                    <a:moveTo>
                      <a:pt x="152821" y="0"/>
                    </a:moveTo>
                    <a:lnTo>
                      <a:pt x="152821" y="0"/>
                    </a:lnTo>
                    <a:cubicBezTo>
                      <a:pt x="237222" y="0"/>
                      <a:pt x="305642" y="68420"/>
                      <a:pt x="305642" y="152821"/>
                    </a:cubicBezTo>
                    <a:lnTo>
                      <a:pt x="305642" y="154472"/>
                    </a:lnTo>
                    <a:cubicBezTo>
                      <a:pt x="305642" y="195003"/>
                      <a:pt x="289541" y="233873"/>
                      <a:pt x="260882" y="262533"/>
                    </a:cubicBezTo>
                    <a:cubicBezTo>
                      <a:pt x="232222" y="291193"/>
                      <a:pt x="193352" y="307293"/>
                      <a:pt x="152821" y="307293"/>
                    </a:cubicBezTo>
                    <a:lnTo>
                      <a:pt x="152821" y="307293"/>
                    </a:lnTo>
                    <a:cubicBezTo>
                      <a:pt x="68420" y="307293"/>
                      <a:pt x="0" y="238873"/>
                      <a:pt x="0" y="154472"/>
                    </a:cubicBezTo>
                    <a:lnTo>
                      <a:pt x="0" y="152821"/>
                    </a:lnTo>
                    <a:cubicBezTo>
                      <a:pt x="0" y="112290"/>
                      <a:pt x="16101" y="73420"/>
                      <a:pt x="44760" y="44760"/>
                    </a:cubicBezTo>
                    <a:cubicBezTo>
                      <a:pt x="73420" y="16101"/>
                      <a:pt x="112290" y="0"/>
                      <a:pt x="152821" y="0"/>
                    </a:cubicBezTo>
                    <a:close/>
                  </a:path>
                </a:pathLst>
              </a:custGeom>
              <a:solidFill>
                <a:srgbClr val="B1F4F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19050"/>
                <a:ext cx="305642" cy="2882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634521" y="4152266"/>
              <a:ext cx="1634521" cy="1643351"/>
              <a:chOff x="0" y="0"/>
              <a:chExt cx="305642" cy="30729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05642" cy="307293"/>
              </a:xfrm>
              <a:custGeom>
                <a:avLst/>
                <a:gdLst/>
                <a:ahLst/>
                <a:cxnLst/>
                <a:rect l="l" t="t" r="r" b="b"/>
                <a:pathLst>
                  <a:path w="305642" h="307293">
                    <a:moveTo>
                      <a:pt x="152821" y="0"/>
                    </a:moveTo>
                    <a:lnTo>
                      <a:pt x="152821" y="0"/>
                    </a:lnTo>
                    <a:cubicBezTo>
                      <a:pt x="237222" y="0"/>
                      <a:pt x="305642" y="68420"/>
                      <a:pt x="305642" y="152821"/>
                    </a:cubicBezTo>
                    <a:lnTo>
                      <a:pt x="305642" y="154472"/>
                    </a:lnTo>
                    <a:cubicBezTo>
                      <a:pt x="305642" y="195003"/>
                      <a:pt x="289541" y="233873"/>
                      <a:pt x="260882" y="262533"/>
                    </a:cubicBezTo>
                    <a:cubicBezTo>
                      <a:pt x="232222" y="291193"/>
                      <a:pt x="193352" y="307293"/>
                      <a:pt x="152821" y="307293"/>
                    </a:cubicBezTo>
                    <a:lnTo>
                      <a:pt x="152821" y="307293"/>
                    </a:lnTo>
                    <a:cubicBezTo>
                      <a:pt x="68420" y="307293"/>
                      <a:pt x="0" y="238873"/>
                      <a:pt x="0" y="154472"/>
                    </a:cubicBezTo>
                    <a:lnTo>
                      <a:pt x="0" y="152821"/>
                    </a:lnTo>
                    <a:cubicBezTo>
                      <a:pt x="0" y="112290"/>
                      <a:pt x="16101" y="73420"/>
                      <a:pt x="44760" y="44760"/>
                    </a:cubicBezTo>
                    <a:cubicBezTo>
                      <a:pt x="73420" y="16101"/>
                      <a:pt x="112290" y="0"/>
                      <a:pt x="152821" y="0"/>
                    </a:cubicBezTo>
                    <a:close/>
                  </a:path>
                </a:pathLst>
              </a:custGeom>
              <a:solidFill>
                <a:srgbClr val="B1F4F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19050"/>
                <a:ext cx="305642" cy="2882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0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3760711" y="1493099"/>
            <a:ext cx="5943357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49"/>
              </a:lnSpc>
              <a:spcBef>
                <a:spcPct val="0"/>
              </a:spcBef>
            </a:pPr>
            <a:r>
              <a:rPr lang="en-US" sz="4999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504273" y="-297999"/>
            <a:ext cx="3372843" cy="10584999"/>
            <a:chOff x="0" y="0"/>
            <a:chExt cx="888321" cy="2787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8321" cy="2787819"/>
            </a:xfrm>
            <a:custGeom>
              <a:avLst/>
              <a:gdLst/>
              <a:ahLst/>
              <a:cxnLst/>
              <a:rect l="l" t="t" r="r" b="b"/>
              <a:pathLst>
                <a:path w="888321" h="2787819">
                  <a:moveTo>
                    <a:pt x="0" y="0"/>
                  </a:moveTo>
                  <a:lnTo>
                    <a:pt x="888321" y="0"/>
                  </a:lnTo>
                  <a:lnTo>
                    <a:pt x="888321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00335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14300"/>
              <a:ext cx="888321" cy="2902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9504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10534" y="2478145"/>
            <a:ext cx="12748766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 optó por una metodología tradicional tipo cascada.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0534" y="3214884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os requerimientos estaban completamente definidos desde un inicio (ERS, Acta, Alcance).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10534" y="4456449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El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proyecto cuenta con plazo fijo de 18 semanas y disponibilidad parcial del equipo.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0534" y="5794810"/>
            <a:ext cx="12748766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El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enfoque en cascada nos permite: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13677" y="6763319"/>
            <a:ext cx="10098331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Claridad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en las 5 fases del proyecto.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3677" y="7565058"/>
            <a:ext cx="10098331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Control del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cronograma y seguimiento de hitos.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3677" y="8366797"/>
            <a:ext cx="10098331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Orden estructurado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alineación con etapas académicas.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531558" y="2445222"/>
            <a:ext cx="648190" cy="648190"/>
            <a:chOff x="0" y="0"/>
            <a:chExt cx="864253" cy="8642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4253" cy="864253"/>
            </a:xfrm>
            <a:custGeom>
              <a:avLst/>
              <a:gdLst/>
              <a:ahLst/>
              <a:cxnLst/>
              <a:rect l="l" t="t" r="r" b="b"/>
              <a:pathLst>
                <a:path w="864253" h="864253">
                  <a:moveTo>
                    <a:pt x="0" y="0"/>
                  </a:moveTo>
                  <a:lnTo>
                    <a:pt x="864253" y="0"/>
                  </a:lnTo>
                  <a:lnTo>
                    <a:pt x="864253" y="864253"/>
                  </a:lnTo>
                  <a:lnTo>
                    <a:pt x="0" y="86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23712" y="123712"/>
              <a:ext cx="616829" cy="616829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27590" y="227590"/>
              <a:ext cx="409074" cy="409074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4704412" y="6784543"/>
            <a:ext cx="539896" cy="539896"/>
            <a:chOff x="0" y="0"/>
            <a:chExt cx="719861" cy="71986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9861" cy="719861"/>
            </a:xfrm>
            <a:custGeom>
              <a:avLst/>
              <a:gdLst/>
              <a:ahLst/>
              <a:cxnLst/>
              <a:rect l="l" t="t" r="r" b="b"/>
              <a:pathLst>
                <a:path w="719861" h="719861">
                  <a:moveTo>
                    <a:pt x="0" y="0"/>
                  </a:moveTo>
                  <a:lnTo>
                    <a:pt x="719861" y="0"/>
                  </a:lnTo>
                  <a:lnTo>
                    <a:pt x="719861" y="719861"/>
                  </a:lnTo>
                  <a:lnTo>
                    <a:pt x="0" y="71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03043" y="103043"/>
              <a:ext cx="513775" cy="51377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89566" y="189566"/>
              <a:ext cx="340729" cy="340729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4704412" y="7584794"/>
            <a:ext cx="539896" cy="539896"/>
            <a:chOff x="0" y="0"/>
            <a:chExt cx="719861" cy="7198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19861" cy="719861"/>
            </a:xfrm>
            <a:custGeom>
              <a:avLst/>
              <a:gdLst/>
              <a:ahLst/>
              <a:cxnLst/>
              <a:rect l="l" t="t" r="r" b="b"/>
              <a:pathLst>
                <a:path w="719861" h="719861">
                  <a:moveTo>
                    <a:pt x="0" y="0"/>
                  </a:moveTo>
                  <a:lnTo>
                    <a:pt x="719861" y="0"/>
                  </a:lnTo>
                  <a:lnTo>
                    <a:pt x="719861" y="719861"/>
                  </a:lnTo>
                  <a:lnTo>
                    <a:pt x="0" y="71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103043" y="103043"/>
              <a:ext cx="513775" cy="51377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89566" y="189566"/>
              <a:ext cx="340729" cy="340729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4704412" y="8380011"/>
            <a:ext cx="539896" cy="539896"/>
            <a:chOff x="0" y="0"/>
            <a:chExt cx="719861" cy="7198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19861" cy="719861"/>
            </a:xfrm>
            <a:custGeom>
              <a:avLst/>
              <a:gdLst/>
              <a:ahLst/>
              <a:cxnLst/>
              <a:rect l="l" t="t" r="r" b="b"/>
              <a:pathLst>
                <a:path w="719861" h="719861">
                  <a:moveTo>
                    <a:pt x="0" y="0"/>
                  </a:moveTo>
                  <a:lnTo>
                    <a:pt x="719861" y="0"/>
                  </a:lnTo>
                  <a:lnTo>
                    <a:pt x="719861" y="719861"/>
                  </a:lnTo>
                  <a:lnTo>
                    <a:pt x="0" y="71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03043" y="103043"/>
              <a:ext cx="513775" cy="513775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89566" y="189566"/>
              <a:ext cx="340729" cy="340729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2404365" y="2146008"/>
            <a:ext cx="793818" cy="7231758"/>
            <a:chOff x="0" y="0"/>
            <a:chExt cx="209071" cy="190466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9071" cy="1904660"/>
            </a:xfrm>
            <a:custGeom>
              <a:avLst/>
              <a:gdLst/>
              <a:ahLst/>
              <a:cxnLst/>
              <a:rect l="l" t="t" r="r" b="b"/>
              <a:pathLst>
                <a:path w="209071" h="1904660">
                  <a:moveTo>
                    <a:pt x="104536" y="0"/>
                  </a:moveTo>
                  <a:lnTo>
                    <a:pt x="104536" y="0"/>
                  </a:lnTo>
                  <a:cubicBezTo>
                    <a:pt x="162269" y="0"/>
                    <a:pt x="209071" y="46802"/>
                    <a:pt x="209071" y="104536"/>
                  </a:cubicBezTo>
                  <a:lnTo>
                    <a:pt x="209071" y="1800125"/>
                  </a:lnTo>
                  <a:cubicBezTo>
                    <a:pt x="209071" y="1857858"/>
                    <a:pt x="162269" y="1904660"/>
                    <a:pt x="104536" y="1904660"/>
                  </a:cubicBezTo>
                  <a:lnTo>
                    <a:pt x="104536" y="1904660"/>
                  </a:lnTo>
                  <a:cubicBezTo>
                    <a:pt x="46802" y="1904660"/>
                    <a:pt x="0" y="1857858"/>
                    <a:pt x="0" y="1800125"/>
                  </a:cubicBezTo>
                  <a:lnTo>
                    <a:pt x="0" y="104536"/>
                  </a:lnTo>
                  <a:cubicBezTo>
                    <a:pt x="0" y="46802"/>
                    <a:pt x="46802" y="0"/>
                    <a:pt x="104536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09071" cy="1942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531558" y="3426845"/>
            <a:ext cx="648190" cy="648190"/>
            <a:chOff x="0" y="0"/>
            <a:chExt cx="864253" cy="86425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64253" cy="864253"/>
            </a:xfrm>
            <a:custGeom>
              <a:avLst/>
              <a:gdLst/>
              <a:ahLst/>
              <a:cxnLst/>
              <a:rect l="l" t="t" r="r" b="b"/>
              <a:pathLst>
                <a:path w="864253" h="864253">
                  <a:moveTo>
                    <a:pt x="0" y="0"/>
                  </a:moveTo>
                  <a:lnTo>
                    <a:pt x="864253" y="0"/>
                  </a:lnTo>
                  <a:lnTo>
                    <a:pt x="864253" y="864253"/>
                  </a:lnTo>
                  <a:lnTo>
                    <a:pt x="0" y="86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123712" y="123712"/>
              <a:ext cx="616829" cy="616829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227590" y="227590"/>
              <a:ext cx="409074" cy="409074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3531558" y="4517959"/>
            <a:ext cx="648190" cy="648190"/>
            <a:chOff x="0" y="0"/>
            <a:chExt cx="864253" cy="86425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64253" cy="864253"/>
            </a:xfrm>
            <a:custGeom>
              <a:avLst/>
              <a:gdLst/>
              <a:ahLst/>
              <a:cxnLst/>
              <a:rect l="l" t="t" r="r" b="b"/>
              <a:pathLst>
                <a:path w="864253" h="864253">
                  <a:moveTo>
                    <a:pt x="0" y="0"/>
                  </a:moveTo>
                  <a:lnTo>
                    <a:pt x="864253" y="0"/>
                  </a:lnTo>
                  <a:lnTo>
                    <a:pt x="864253" y="864253"/>
                  </a:lnTo>
                  <a:lnTo>
                    <a:pt x="0" y="86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23712" y="123712"/>
              <a:ext cx="616829" cy="616829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227590" y="227590"/>
              <a:ext cx="409074" cy="409074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531558" y="5761887"/>
            <a:ext cx="648190" cy="648190"/>
            <a:chOff x="0" y="0"/>
            <a:chExt cx="864253" cy="86425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64253" cy="864253"/>
            </a:xfrm>
            <a:custGeom>
              <a:avLst/>
              <a:gdLst/>
              <a:ahLst/>
              <a:cxnLst/>
              <a:rect l="l" t="t" r="r" b="b"/>
              <a:pathLst>
                <a:path w="864253" h="864253">
                  <a:moveTo>
                    <a:pt x="0" y="0"/>
                  </a:moveTo>
                  <a:lnTo>
                    <a:pt x="864253" y="0"/>
                  </a:lnTo>
                  <a:lnTo>
                    <a:pt x="864253" y="864253"/>
                  </a:lnTo>
                  <a:lnTo>
                    <a:pt x="0" y="86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123712" y="123712"/>
              <a:ext cx="616829" cy="616829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8E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227590" y="227590"/>
              <a:ext cx="409074" cy="409074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241" tIns="14241" rIns="14241" bIns="14241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643" y="1116862"/>
            <a:ext cx="1343878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49"/>
              </a:lnSpc>
              <a:spcBef>
                <a:spcPct val="0"/>
              </a:spcBef>
            </a:pPr>
            <a:r>
              <a:rPr lang="en-US" sz="4999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Planificación Temporal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87681" y="2510562"/>
            <a:ext cx="7853228" cy="7551573"/>
            <a:chOff x="0" y="0"/>
            <a:chExt cx="10470970" cy="10068763"/>
          </a:xfrm>
        </p:grpSpPr>
        <p:grpSp>
          <p:nvGrpSpPr>
            <p:cNvPr id="6" name="Group 6"/>
            <p:cNvGrpSpPr/>
            <p:nvPr/>
          </p:nvGrpSpPr>
          <p:grpSpPr>
            <a:xfrm>
              <a:off x="4244808" y="0"/>
              <a:ext cx="6214511" cy="872049"/>
              <a:chOff x="0" y="0"/>
              <a:chExt cx="1227558" cy="17225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27558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2257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E6E6E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1227558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Descripción / Cantidad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025742"/>
              <a:ext cx="4134439" cy="872049"/>
              <a:chOff x="0" y="0"/>
              <a:chExt cx="816679" cy="17225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46"/>
                  </a:lnSpc>
                </a:pPr>
                <a:r>
                  <a:rPr lang="en-US" sz="1700" b="1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Total de fases de proyecto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244808" y="1025742"/>
              <a:ext cx="6226163" cy="889153"/>
              <a:chOff x="0" y="0"/>
              <a:chExt cx="1229859" cy="1756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29859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9859" h="175635">
                    <a:moveTo>
                      <a:pt x="0" y="0"/>
                    </a:moveTo>
                    <a:lnTo>
                      <a:pt x="1229859" y="0"/>
                    </a:lnTo>
                    <a:lnTo>
                      <a:pt x="1229859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1229859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5 (Planificación y Análisis, Diseño, Desarrollo, Pruebas y Despliegue, Cierre)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2038676"/>
              <a:ext cx="4134439" cy="872049"/>
              <a:chOff x="0" y="0"/>
              <a:chExt cx="816679" cy="17225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Total de tareas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244808" y="2038676"/>
              <a:ext cx="6214511" cy="889153"/>
              <a:chOff x="0" y="0"/>
              <a:chExt cx="1227558" cy="17563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27558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5635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1227558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55 tareas identificadas y tareas predecesoras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3051611"/>
              <a:ext cx="4134439" cy="872049"/>
              <a:chOff x="0" y="0"/>
              <a:chExt cx="816679" cy="17225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Total de hitos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44808" y="3051611"/>
              <a:ext cx="6214511" cy="889153"/>
              <a:chOff x="0" y="0"/>
              <a:chExt cx="1227558" cy="17563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27558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5635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1227558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18 hitos (cada fase y módulo de desarrollo)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4064545"/>
              <a:ext cx="4134439" cy="889152"/>
              <a:chOff x="0" y="0"/>
              <a:chExt cx="816679" cy="17563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6679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5635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E6E6E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16679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Carga de trabajo por integrante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244808" y="4064545"/>
              <a:ext cx="6214511" cy="872049"/>
              <a:chOff x="0" y="0"/>
              <a:chExt cx="1227558" cy="17225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27558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2257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E6E6E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227558" cy="2103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303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5096553"/>
              <a:ext cx="4134439" cy="872049"/>
              <a:chOff x="0" y="0"/>
              <a:chExt cx="816679" cy="17225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Nicolás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244808" y="5096553"/>
              <a:ext cx="6214511" cy="889153"/>
              <a:chOff x="0" y="0"/>
              <a:chExt cx="1227558" cy="17563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227558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5635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28575"/>
                <a:ext cx="1227558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16 tareas (Módulos 2, 6 y parte de autenticación y consultor)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6109487"/>
              <a:ext cx="4134439" cy="872049"/>
              <a:chOff x="0" y="0"/>
              <a:chExt cx="816679" cy="17225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Aldo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244808" y="6109487"/>
              <a:ext cx="6214511" cy="889153"/>
              <a:chOff x="0" y="0"/>
              <a:chExt cx="1227558" cy="17563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227558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5635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28575"/>
                <a:ext cx="1227558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17 tareas (Autenticación, Roles, Módulos 1, 3 y Dashboard)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7122422"/>
              <a:ext cx="4134439" cy="872049"/>
              <a:chOff x="0" y="0"/>
              <a:chExt cx="816679" cy="17225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Gabriela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244808" y="7122422"/>
              <a:ext cx="6214511" cy="872049"/>
              <a:chOff x="0" y="0"/>
              <a:chExt cx="1227558" cy="17225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227558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2257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1227558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15 tareas (Perfiles, Módulos 4 y 5)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0900" y="0"/>
              <a:ext cx="4113538" cy="872049"/>
              <a:chOff x="0" y="0"/>
              <a:chExt cx="812551" cy="17225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551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2551" h="172257">
                    <a:moveTo>
                      <a:pt x="0" y="0"/>
                    </a:moveTo>
                    <a:lnTo>
                      <a:pt x="812551" y="0"/>
                    </a:lnTo>
                    <a:lnTo>
                      <a:pt x="812551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E6E6E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28575"/>
                <a:ext cx="812551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Elemento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176862"/>
              <a:ext cx="4134439" cy="872049"/>
              <a:chOff x="0" y="0"/>
              <a:chExt cx="816679" cy="17225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Equipo completo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244808" y="8176862"/>
              <a:ext cx="6214511" cy="889153"/>
              <a:chOff x="0" y="0"/>
              <a:chExt cx="1227558" cy="17563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227558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5635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28575"/>
                <a:ext cx="1227558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7 tareas (Fases 1, 2, diseño general, y pruebas/despliegue)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0" y="9179611"/>
              <a:ext cx="4134439" cy="872049"/>
              <a:chOff x="0" y="0"/>
              <a:chExt cx="816679" cy="17225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6679" cy="172257"/>
              </a:xfrm>
              <a:custGeom>
                <a:avLst/>
                <a:gdLst/>
                <a:ahLst/>
                <a:cxnLst/>
                <a:rect l="l" t="t" r="r" b="b"/>
                <a:pathLst>
                  <a:path w="816679" h="172257">
                    <a:moveTo>
                      <a:pt x="0" y="0"/>
                    </a:moveTo>
                    <a:lnTo>
                      <a:pt x="816679" y="0"/>
                    </a:lnTo>
                    <a:lnTo>
                      <a:pt x="816679" y="172257"/>
                    </a:lnTo>
                    <a:lnTo>
                      <a:pt x="0" y="172257"/>
                    </a:lnTo>
                    <a:close/>
                  </a:path>
                </a:pathLst>
              </a:custGeom>
              <a:solidFill>
                <a:srgbClr val="00335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28575"/>
                <a:ext cx="816679" cy="2008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 u="none" strike="noStrike">
                    <a:solidFill>
                      <a:srgbClr val="FFFFFF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Estado global del proyecto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4244808" y="9179611"/>
              <a:ext cx="6214511" cy="889153"/>
              <a:chOff x="0" y="0"/>
              <a:chExt cx="1227558" cy="17563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227558" cy="175635"/>
              </a:xfrm>
              <a:custGeom>
                <a:avLst/>
                <a:gdLst/>
                <a:ahLst/>
                <a:cxnLst/>
                <a:rect l="l" t="t" r="r" b="b"/>
                <a:pathLst>
                  <a:path w="1227558" h="175635">
                    <a:moveTo>
                      <a:pt x="0" y="0"/>
                    </a:moveTo>
                    <a:lnTo>
                      <a:pt x="1227558" y="0"/>
                    </a:lnTo>
                    <a:lnTo>
                      <a:pt x="1227558" y="175635"/>
                    </a:lnTo>
                    <a:lnTo>
                      <a:pt x="0" y="17563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28575"/>
                <a:ext cx="1227558" cy="2042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2346"/>
                  </a:lnSpc>
                  <a:spcBef>
                    <a:spcPct val="0"/>
                  </a:spcBef>
                </a:pPr>
                <a:r>
                  <a:rPr lang="en-US" sz="1700" b="1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90</a:t>
                </a:r>
                <a:r>
                  <a:rPr lang="en-US" sz="1700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% completado (pendientes pruebas, despliegue y documentación final)</a:t>
                </a:r>
              </a:p>
            </p:txBody>
          </p:sp>
        </p:grpSp>
      </p:grpSp>
      <p:sp>
        <p:nvSpPr>
          <p:cNvPr id="66" name="Freeform 66"/>
          <p:cNvSpPr/>
          <p:nvPr/>
        </p:nvSpPr>
        <p:spPr>
          <a:xfrm>
            <a:off x="745643" y="2297961"/>
            <a:ext cx="8748365" cy="7764174"/>
          </a:xfrm>
          <a:custGeom>
            <a:avLst/>
            <a:gdLst/>
            <a:ahLst/>
            <a:cxnLst/>
            <a:rect l="l" t="t" r="r" b="b"/>
            <a:pathLst>
              <a:path w="8748365" h="7764174">
                <a:moveTo>
                  <a:pt x="0" y="0"/>
                </a:moveTo>
                <a:lnTo>
                  <a:pt x="8748365" y="0"/>
                </a:lnTo>
                <a:lnTo>
                  <a:pt x="8748365" y="7764174"/>
                </a:lnTo>
                <a:lnTo>
                  <a:pt x="0" y="7764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7" name="TextBox 67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7489" y="4507093"/>
            <a:ext cx="17191995" cy="4356629"/>
            <a:chOff x="0" y="0"/>
            <a:chExt cx="4329214" cy="10970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29214" cy="1097068"/>
            </a:xfrm>
            <a:custGeom>
              <a:avLst/>
              <a:gdLst/>
              <a:ahLst/>
              <a:cxnLst/>
              <a:rect l="l" t="t" r="r" b="b"/>
              <a:pathLst>
                <a:path w="4329214" h="1097068">
                  <a:moveTo>
                    <a:pt x="6755" y="0"/>
                  </a:moveTo>
                  <a:lnTo>
                    <a:pt x="4322459" y="0"/>
                  </a:lnTo>
                  <a:cubicBezTo>
                    <a:pt x="4326189" y="0"/>
                    <a:pt x="4329214" y="3024"/>
                    <a:pt x="4329214" y="6755"/>
                  </a:cubicBezTo>
                  <a:lnTo>
                    <a:pt x="4329214" y="1090313"/>
                  </a:lnTo>
                  <a:cubicBezTo>
                    <a:pt x="4329214" y="1094043"/>
                    <a:pt x="4326189" y="1097068"/>
                    <a:pt x="4322459" y="1097068"/>
                  </a:cubicBezTo>
                  <a:lnTo>
                    <a:pt x="6755" y="1097068"/>
                  </a:lnTo>
                  <a:cubicBezTo>
                    <a:pt x="3024" y="1097068"/>
                    <a:pt x="0" y="1094043"/>
                    <a:pt x="0" y="1090313"/>
                  </a:cubicBezTo>
                  <a:lnTo>
                    <a:pt x="0" y="6755"/>
                  </a:lnTo>
                  <a:cubicBezTo>
                    <a:pt x="0" y="3024"/>
                    <a:pt x="3024" y="0"/>
                    <a:pt x="6755" y="0"/>
                  </a:cubicBezTo>
                  <a:close/>
                </a:path>
              </a:pathLst>
            </a:custGeom>
            <a:solidFill>
              <a:srgbClr val="00335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329214" cy="1116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24609" y="2457546"/>
            <a:ext cx="13438781" cy="80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Software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42405" y="4210145"/>
            <a:ext cx="17202251" cy="4322065"/>
            <a:chOff x="0" y="0"/>
            <a:chExt cx="22936334" cy="57627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36334" cy="5762754"/>
            </a:xfrm>
            <a:custGeom>
              <a:avLst/>
              <a:gdLst/>
              <a:ahLst/>
              <a:cxnLst/>
              <a:rect l="l" t="t" r="r" b="b"/>
              <a:pathLst>
                <a:path w="22936334" h="5762754">
                  <a:moveTo>
                    <a:pt x="0" y="0"/>
                  </a:moveTo>
                  <a:lnTo>
                    <a:pt x="22936334" y="0"/>
                  </a:lnTo>
                  <a:lnTo>
                    <a:pt x="22936334" y="5762754"/>
                  </a:lnTo>
                  <a:lnTo>
                    <a:pt x="0" y="576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26624" y="1938739"/>
              <a:ext cx="406598" cy="298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SQL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84775" y="1761320"/>
              <a:ext cx="1220986" cy="476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0"/>
                </a:lnSpc>
              </a:pPr>
              <a:r>
                <a:rPr lang="en-US" sz="1299" spc="3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Llamadas/</a:t>
              </a:r>
            </a:p>
            <a:p>
              <a:pPr algn="ctr">
                <a:lnSpc>
                  <a:spcPts val="1390"/>
                </a:lnSpc>
              </a:pPr>
              <a:r>
                <a:rPr lang="en-US" sz="1299" spc="3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Respuestas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91102" y="1864148"/>
              <a:ext cx="1201142" cy="386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76"/>
                </a:lnSpc>
              </a:pPr>
              <a:r>
                <a:rPr lang="en-US" sz="1099" spc="2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Operaciones </a:t>
              </a:r>
            </a:p>
            <a:p>
              <a:pPr algn="ctr">
                <a:lnSpc>
                  <a:spcPts val="1176"/>
                </a:lnSpc>
              </a:pPr>
              <a:r>
                <a:rPr lang="en-US" sz="1099" spc="2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 Datos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3419" y="2029629"/>
              <a:ext cx="2363678" cy="247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0"/>
                </a:lnSpc>
              </a:pPr>
              <a:r>
                <a:rPr lang="en-US" sz="1299" spc="3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REST/JSON + JWT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10583" y="4442075"/>
            <a:ext cx="17458901" cy="3426309"/>
            <a:chOff x="0" y="0"/>
            <a:chExt cx="4316122" cy="8470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16122" cy="847039"/>
            </a:xfrm>
            <a:custGeom>
              <a:avLst/>
              <a:gdLst/>
              <a:ahLst/>
              <a:cxnLst/>
              <a:rect l="l" t="t" r="r" b="b"/>
              <a:pathLst>
                <a:path w="4316122" h="847039">
                  <a:moveTo>
                    <a:pt x="6652" y="0"/>
                  </a:moveTo>
                  <a:lnTo>
                    <a:pt x="4309471" y="0"/>
                  </a:lnTo>
                  <a:cubicBezTo>
                    <a:pt x="4313144" y="0"/>
                    <a:pt x="4316122" y="2978"/>
                    <a:pt x="4316122" y="6652"/>
                  </a:cubicBezTo>
                  <a:lnTo>
                    <a:pt x="4316122" y="840387"/>
                  </a:lnTo>
                  <a:cubicBezTo>
                    <a:pt x="4316122" y="844061"/>
                    <a:pt x="4313144" y="847039"/>
                    <a:pt x="4309471" y="847039"/>
                  </a:cubicBezTo>
                  <a:lnTo>
                    <a:pt x="6652" y="847039"/>
                  </a:lnTo>
                  <a:cubicBezTo>
                    <a:pt x="2978" y="847039"/>
                    <a:pt x="0" y="844061"/>
                    <a:pt x="0" y="840387"/>
                  </a:cubicBezTo>
                  <a:lnTo>
                    <a:pt x="0" y="6652"/>
                  </a:lnTo>
                  <a:cubicBezTo>
                    <a:pt x="0" y="2978"/>
                    <a:pt x="2978" y="0"/>
                    <a:pt x="6652" y="0"/>
                  </a:cubicBezTo>
                  <a:close/>
                </a:path>
              </a:pathLst>
            </a:custGeom>
            <a:solidFill>
              <a:srgbClr val="00335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316122" cy="866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24609" y="2294666"/>
            <a:ext cx="13438781" cy="80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solución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pic>
        <p:nvPicPr>
          <p:cNvPr id="19" name="Imagen 18" descr="Diagrama&#10;&#10;El contenido generado por IA puede ser incorrecto.">
            <a:extLst>
              <a:ext uri="{FF2B5EF4-FFF2-40B4-BE49-F238E27FC236}">
                <a16:creationId xmlns:a16="http://schemas.microsoft.com/office/drawing/2014/main" id="{1BE7191B-1B0C-2B3F-222A-0B56F8518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6" y="4156554"/>
            <a:ext cx="17505872" cy="34253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74648" y="1059712"/>
            <a:ext cx="13438781" cy="80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datos</a:t>
            </a:r>
          </a:p>
        </p:txBody>
      </p:sp>
      <p:sp>
        <p:nvSpPr>
          <p:cNvPr id="3" name="Freeform 3"/>
          <p:cNvSpPr/>
          <p:nvPr/>
        </p:nvSpPr>
        <p:spPr>
          <a:xfrm>
            <a:off x="1755063" y="2129269"/>
            <a:ext cx="14796924" cy="8082820"/>
          </a:xfrm>
          <a:custGeom>
            <a:avLst/>
            <a:gdLst/>
            <a:ahLst/>
            <a:cxnLst/>
            <a:rect l="l" t="t" r="r" b="b"/>
            <a:pathLst>
              <a:path w="14796924" h="8082820">
                <a:moveTo>
                  <a:pt x="0" y="0"/>
                </a:moveTo>
                <a:lnTo>
                  <a:pt x="14796924" y="0"/>
                </a:lnTo>
                <a:lnTo>
                  <a:pt x="14796924" y="8082820"/>
                </a:lnTo>
                <a:lnTo>
                  <a:pt x="0" y="8082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5" name="Freeform 5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94608" y="5160361"/>
            <a:ext cx="2168855" cy="2503401"/>
            <a:chOff x="0" y="0"/>
            <a:chExt cx="571221" cy="6593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221" cy="659332"/>
            </a:xfrm>
            <a:custGeom>
              <a:avLst/>
              <a:gdLst/>
              <a:ahLst/>
              <a:cxnLst/>
              <a:rect l="l" t="t" r="r" b="b"/>
              <a:pathLst>
                <a:path w="571221" h="659332">
                  <a:moveTo>
                    <a:pt x="53544" y="0"/>
                  </a:moveTo>
                  <a:lnTo>
                    <a:pt x="517677" y="0"/>
                  </a:lnTo>
                  <a:cubicBezTo>
                    <a:pt x="547249" y="0"/>
                    <a:pt x="571221" y="23972"/>
                    <a:pt x="571221" y="53544"/>
                  </a:cubicBezTo>
                  <a:lnTo>
                    <a:pt x="571221" y="605788"/>
                  </a:lnTo>
                  <a:cubicBezTo>
                    <a:pt x="571221" y="635359"/>
                    <a:pt x="547249" y="659332"/>
                    <a:pt x="517677" y="659332"/>
                  </a:cubicBezTo>
                  <a:lnTo>
                    <a:pt x="53544" y="659332"/>
                  </a:lnTo>
                  <a:cubicBezTo>
                    <a:pt x="39343" y="659332"/>
                    <a:pt x="25724" y="653691"/>
                    <a:pt x="15683" y="643649"/>
                  </a:cubicBezTo>
                  <a:cubicBezTo>
                    <a:pt x="5641" y="633608"/>
                    <a:pt x="0" y="619989"/>
                    <a:pt x="0" y="605788"/>
                  </a:cubicBezTo>
                  <a:lnTo>
                    <a:pt x="0" y="53544"/>
                  </a:lnTo>
                  <a:cubicBezTo>
                    <a:pt x="0" y="39343"/>
                    <a:pt x="5641" y="25724"/>
                    <a:pt x="15683" y="15683"/>
                  </a:cubicBezTo>
                  <a:cubicBezTo>
                    <a:pt x="25724" y="5641"/>
                    <a:pt x="39343" y="0"/>
                    <a:pt x="535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D2522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571221" cy="668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89311" y="5414282"/>
            <a:ext cx="2081503" cy="2259005"/>
            <a:chOff x="0" y="0"/>
            <a:chExt cx="548215" cy="5949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8215" cy="594964"/>
            </a:xfrm>
            <a:custGeom>
              <a:avLst/>
              <a:gdLst/>
              <a:ahLst/>
              <a:cxnLst/>
              <a:rect l="l" t="t" r="r" b="b"/>
              <a:pathLst>
                <a:path w="548215" h="594964">
                  <a:moveTo>
                    <a:pt x="55791" y="0"/>
                  </a:moveTo>
                  <a:lnTo>
                    <a:pt x="492424" y="0"/>
                  </a:lnTo>
                  <a:cubicBezTo>
                    <a:pt x="507221" y="0"/>
                    <a:pt x="521411" y="5878"/>
                    <a:pt x="531874" y="16341"/>
                  </a:cubicBezTo>
                  <a:cubicBezTo>
                    <a:pt x="542337" y="26804"/>
                    <a:pt x="548215" y="40994"/>
                    <a:pt x="548215" y="55791"/>
                  </a:cubicBezTo>
                  <a:lnTo>
                    <a:pt x="548215" y="539173"/>
                  </a:lnTo>
                  <a:cubicBezTo>
                    <a:pt x="548215" y="569986"/>
                    <a:pt x="523236" y="594964"/>
                    <a:pt x="492424" y="594964"/>
                  </a:cubicBezTo>
                  <a:lnTo>
                    <a:pt x="55791" y="594964"/>
                  </a:lnTo>
                  <a:cubicBezTo>
                    <a:pt x="24978" y="594964"/>
                    <a:pt x="0" y="569986"/>
                    <a:pt x="0" y="539173"/>
                  </a:cubicBezTo>
                  <a:lnTo>
                    <a:pt x="0" y="55791"/>
                  </a:lnTo>
                  <a:cubicBezTo>
                    <a:pt x="0" y="24978"/>
                    <a:pt x="24978" y="0"/>
                    <a:pt x="557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D2522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548215" cy="604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66320" y="2828107"/>
            <a:ext cx="2041798" cy="1830187"/>
            <a:chOff x="0" y="0"/>
            <a:chExt cx="537757" cy="4820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7757" cy="482024"/>
            </a:xfrm>
            <a:custGeom>
              <a:avLst/>
              <a:gdLst/>
              <a:ahLst/>
              <a:cxnLst/>
              <a:rect l="l" t="t" r="r" b="b"/>
              <a:pathLst>
                <a:path w="537757" h="482024">
                  <a:moveTo>
                    <a:pt x="56876" y="0"/>
                  </a:moveTo>
                  <a:lnTo>
                    <a:pt x="480882" y="0"/>
                  </a:lnTo>
                  <a:cubicBezTo>
                    <a:pt x="512293" y="0"/>
                    <a:pt x="537757" y="25464"/>
                    <a:pt x="537757" y="56876"/>
                  </a:cubicBezTo>
                  <a:lnTo>
                    <a:pt x="537757" y="425149"/>
                  </a:lnTo>
                  <a:cubicBezTo>
                    <a:pt x="537757" y="456560"/>
                    <a:pt x="512293" y="482024"/>
                    <a:pt x="480882" y="482024"/>
                  </a:cubicBezTo>
                  <a:lnTo>
                    <a:pt x="56876" y="482024"/>
                  </a:lnTo>
                  <a:cubicBezTo>
                    <a:pt x="25464" y="482024"/>
                    <a:pt x="0" y="456560"/>
                    <a:pt x="0" y="425149"/>
                  </a:cubicBezTo>
                  <a:lnTo>
                    <a:pt x="0" y="56876"/>
                  </a:lnTo>
                  <a:cubicBezTo>
                    <a:pt x="0" y="25464"/>
                    <a:pt x="25464" y="0"/>
                    <a:pt x="568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D2522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37757" cy="491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7931" y="1379596"/>
            <a:ext cx="1490944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50"/>
              </a:lnSpc>
              <a:spcBef>
                <a:spcPct val="0"/>
              </a:spcBef>
            </a:pPr>
            <a:r>
              <a:rPr lang="en-US" sz="5000" b="1" u="none" strike="noStrike">
                <a:solidFill>
                  <a:srgbClr val="0034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Tablas Core Modelo de Datos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969500" y="3676775"/>
            <a:ext cx="7451113" cy="5581525"/>
            <a:chOff x="0" y="0"/>
            <a:chExt cx="9934817" cy="744203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934817" cy="7442034"/>
              <a:chOff x="0" y="0"/>
              <a:chExt cx="2125998" cy="159255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125998" cy="1592556"/>
              </a:xfrm>
              <a:custGeom>
                <a:avLst/>
                <a:gdLst/>
                <a:ahLst/>
                <a:cxnLst/>
                <a:rect l="l" t="t" r="r" b="b"/>
                <a:pathLst>
                  <a:path w="2125998" h="1592556">
                    <a:moveTo>
                      <a:pt x="0" y="0"/>
                    </a:moveTo>
                    <a:lnTo>
                      <a:pt x="2125998" y="0"/>
                    </a:lnTo>
                    <a:lnTo>
                      <a:pt x="2125998" y="1592556"/>
                    </a:lnTo>
                    <a:lnTo>
                      <a:pt x="0" y="159255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2125998" cy="1621131"/>
              </a:xfrm>
              <a:prstGeom prst="rect">
                <a:avLst/>
              </a:prstGeom>
            </p:spPr>
            <p:txBody>
              <a:bodyPr lIns="46371" tIns="46371" rIns="46371" bIns="46371" rtlCol="0" anchor="ctr"/>
              <a:lstStyle/>
              <a:p>
                <a:pPr algn="ctr">
                  <a:lnSpc>
                    <a:spcPts val="2346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9934817" cy="749018"/>
              <a:chOff x="0" y="0"/>
              <a:chExt cx="2125998" cy="16028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125998" cy="160286"/>
              </a:xfrm>
              <a:custGeom>
                <a:avLst/>
                <a:gdLst/>
                <a:ahLst/>
                <a:cxnLst/>
                <a:rect l="l" t="t" r="r" b="b"/>
                <a:pathLst>
                  <a:path w="2125998" h="160286">
                    <a:moveTo>
                      <a:pt x="0" y="0"/>
                    </a:moveTo>
                    <a:lnTo>
                      <a:pt x="2125998" y="0"/>
                    </a:lnTo>
                    <a:lnTo>
                      <a:pt x="2125998" y="160286"/>
                    </a:lnTo>
                    <a:lnTo>
                      <a:pt x="0" y="16028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2125998" cy="188861"/>
              </a:xfrm>
              <a:prstGeom prst="rect">
                <a:avLst/>
              </a:prstGeom>
            </p:spPr>
            <p:txBody>
              <a:bodyPr lIns="46371" tIns="46371" rIns="46371" bIns="46371" rtlCol="0" anchor="ctr"/>
              <a:lstStyle/>
              <a:p>
                <a:pPr algn="ctr">
                  <a:lnSpc>
                    <a:spcPts val="2346"/>
                  </a:lnSpc>
                </a:pPr>
                <a:r>
                  <a:rPr lang="en-US" sz="1700" b="1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candidato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97400" y="813908"/>
              <a:ext cx="9540018" cy="65346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   *  id_candidato                                    NUMBER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   *  rut_candidato                                  VARCHAR2 (12)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nombre_candidato                         VARCHAR2 (100)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primer_apellido_candidato           VARCHAR2 (100)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segundo_apellido_candidato        VARCHAR2 (100)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telefono_candidato                        VARCHAR2 (12)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   *  email_candidato                             VARCHAR2 (150)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edad_candidato                              NUMBER (2)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fecha_nacimiento_candidato       TIMESTAMP WITH TIME ZONE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software_herramientas                 VARCHAR2 (100)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nivel_ingles                                      VARCHAR2 (100)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discapacidad                                   CHAR (1)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    id_comuna                                       NUMBER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    id_nacionalidad                               NUMBER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    id_rubro                                            NUMBER</a:t>
              </a:r>
            </a:p>
            <a:p>
              <a:pPr algn="l">
                <a:lnSpc>
                  <a:spcPts val="2428"/>
                </a:lnSpc>
              </a:pPr>
              <a:r>
                <a:rPr lang="en-US" sz="173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* licencia                                              CHAR (1)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143500"/>
            <a:ext cx="7856645" cy="4948334"/>
            <a:chOff x="0" y="0"/>
            <a:chExt cx="10475527" cy="659777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475527" cy="6597779"/>
              <a:chOff x="0" y="0"/>
              <a:chExt cx="2110336" cy="132914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110336" cy="1329148"/>
              </a:xfrm>
              <a:custGeom>
                <a:avLst/>
                <a:gdLst/>
                <a:ahLst/>
                <a:cxnLst/>
                <a:rect l="l" t="t" r="r" b="b"/>
                <a:pathLst>
                  <a:path w="2110336" h="1329148">
                    <a:moveTo>
                      <a:pt x="0" y="0"/>
                    </a:moveTo>
                    <a:lnTo>
                      <a:pt x="2110336" y="0"/>
                    </a:lnTo>
                    <a:lnTo>
                      <a:pt x="2110336" y="1329148"/>
                    </a:lnTo>
                    <a:lnTo>
                      <a:pt x="0" y="1329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2110336" cy="1357723"/>
              </a:xfrm>
              <a:prstGeom prst="rect">
                <a:avLst/>
              </a:prstGeom>
            </p:spPr>
            <p:txBody>
              <a:bodyPr lIns="46371" tIns="46371" rIns="46371" bIns="46371" rtlCol="0" anchor="ctr"/>
              <a:lstStyle/>
              <a:p>
                <a:pPr algn="ctr">
                  <a:lnSpc>
                    <a:spcPts val="2346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0475527" cy="795646"/>
              <a:chOff x="0" y="0"/>
              <a:chExt cx="2110336" cy="16028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10336" cy="160286"/>
              </a:xfrm>
              <a:custGeom>
                <a:avLst/>
                <a:gdLst/>
                <a:ahLst/>
                <a:cxnLst/>
                <a:rect l="l" t="t" r="r" b="b"/>
                <a:pathLst>
                  <a:path w="2110336" h="160286">
                    <a:moveTo>
                      <a:pt x="0" y="0"/>
                    </a:moveTo>
                    <a:lnTo>
                      <a:pt x="2110336" y="0"/>
                    </a:lnTo>
                    <a:lnTo>
                      <a:pt x="2110336" y="160286"/>
                    </a:lnTo>
                    <a:lnTo>
                      <a:pt x="0" y="16028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2110336" cy="188861"/>
              </a:xfrm>
              <a:prstGeom prst="rect">
                <a:avLst/>
              </a:prstGeom>
            </p:spPr>
            <p:txBody>
              <a:bodyPr lIns="46371" tIns="46371" rIns="46371" bIns="46371" rtlCol="0" anchor="ctr"/>
              <a:lstStyle/>
              <a:p>
                <a:pPr marL="0" lvl="0" indent="0" algn="ctr">
                  <a:lnSpc>
                    <a:spcPts val="2492"/>
                  </a:lnSpc>
                  <a:spcBef>
                    <a:spcPct val="0"/>
                  </a:spcBef>
                </a:pPr>
                <a:r>
                  <a:rPr lang="en-US" sz="1805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postulacion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208143" y="866354"/>
              <a:ext cx="10059240" cy="5632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   *   id_postulacion                               NUMBER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motivacion                                      VARCHAR2 (4000)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expectativa_renta                          NUMBER (12,2)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disponibilidad_postulacion          VARCHAR2 (100)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comentario_no_presentado         VARCHAR2 (4000)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situacion_familiar                           VARCHAR2 (300)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valoracion                                        NUMBER (10)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cv_postulacion                                BLOB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*  id_candidato                                   NUMBER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    id_estado_candidato                     NUMBER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*  id_solicitud                                      NUMBER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F       id_portal_postulacion                    NUMBER</a:t>
              </a:r>
            </a:p>
            <a:p>
              <a:pPr algn="l">
                <a:lnSpc>
                  <a:spcPts val="2579"/>
                </a:lnSpc>
              </a:pPr>
              <a:r>
                <a:rPr lang="en-US" sz="184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    fecha_envio                                     DATE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2281092"/>
            <a:ext cx="7856645" cy="2791365"/>
            <a:chOff x="0" y="0"/>
            <a:chExt cx="10475527" cy="372182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0475527" cy="3721820"/>
              <a:chOff x="0" y="0"/>
              <a:chExt cx="2332744" cy="82879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32744" cy="828794"/>
              </a:xfrm>
              <a:custGeom>
                <a:avLst/>
                <a:gdLst/>
                <a:ahLst/>
                <a:cxnLst/>
                <a:rect l="l" t="t" r="r" b="b"/>
                <a:pathLst>
                  <a:path w="2332744" h="828794">
                    <a:moveTo>
                      <a:pt x="0" y="0"/>
                    </a:moveTo>
                    <a:lnTo>
                      <a:pt x="2332744" y="0"/>
                    </a:lnTo>
                    <a:lnTo>
                      <a:pt x="2332744" y="828794"/>
                    </a:lnTo>
                    <a:lnTo>
                      <a:pt x="0" y="82879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332744" cy="857369"/>
              </a:xfrm>
              <a:prstGeom prst="rect">
                <a:avLst/>
              </a:prstGeom>
            </p:spPr>
            <p:txBody>
              <a:bodyPr lIns="45062" tIns="45062" rIns="45062" bIns="45062" rtlCol="0" anchor="ctr"/>
              <a:lstStyle/>
              <a:p>
                <a:pPr algn="ctr">
                  <a:lnSpc>
                    <a:spcPts val="2346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0"/>
              <a:ext cx="10475527" cy="719787"/>
              <a:chOff x="0" y="0"/>
              <a:chExt cx="2332744" cy="16028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332744" cy="160286"/>
              </a:xfrm>
              <a:custGeom>
                <a:avLst/>
                <a:gdLst/>
                <a:ahLst/>
                <a:cxnLst/>
                <a:rect l="l" t="t" r="r" b="b"/>
                <a:pathLst>
                  <a:path w="2332744" h="160286">
                    <a:moveTo>
                      <a:pt x="0" y="0"/>
                    </a:moveTo>
                    <a:lnTo>
                      <a:pt x="2332744" y="0"/>
                    </a:lnTo>
                    <a:lnTo>
                      <a:pt x="2332744" y="160286"/>
                    </a:lnTo>
                    <a:lnTo>
                      <a:pt x="0" y="16028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332744" cy="198386"/>
              </a:xfrm>
              <a:prstGeom prst="rect">
                <a:avLst/>
              </a:prstGeom>
            </p:spPr>
            <p:txBody>
              <a:bodyPr lIns="45062" tIns="45062" rIns="45062" bIns="45062" rtlCol="0" anchor="ctr"/>
              <a:lstStyle/>
              <a:p>
                <a:pPr marL="0" lvl="0" indent="0" algn="ctr">
                  <a:lnSpc>
                    <a:spcPts val="2501"/>
                  </a:lnSpc>
                  <a:spcBef>
                    <a:spcPct val="0"/>
                  </a:spcBef>
                </a:pPr>
                <a:r>
                  <a:rPr lang="en-US" sz="1812" b="1" u="none" strike="noStrike">
                    <a:solidFill>
                      <a:srgbClr val="000000"/>
                    </a:solidFill>
                    <a:latin typeface="Gotham Bold"/>
                    <a:ea typeface="Gotham Bold"/>
                    <a:cs typeface="Gotham Bold"/>
                    <a:sym typeface="Gotham Bold"/>
                  </a:rPr>
                  <a:t>solicitud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08143" y="781030"/>
              <a:ext cx="10059240" cy="2813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   *  id_solicitud                                    NUMBER</a:t>
              </a:r>
            </a:p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plazo_maximo_solicitud             TIMESTAMP WITH TIME ZONE</a:t>
              </a:r>
            </a:p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*  fecha_ingreso_solicitud              TIMESTAMP WITH TIME ZONE</a:t>
              </a:r>
            </a:p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    *  id_contacto                                   NUMBER </a:t>
              </a:r>
            </a:p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    *  codigo_servicio                             VARCHAR2 (2)</a:t>
              </a:r>
            </a:p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    *  rut_usuario                                    VARCHAR2 (12)</a:t>
              </a:r>
            </a:p>
            <a:p>
              <a:pPr algn="l">
                <a:lnSpc>
                  <a:spcPts val="2473"/>
                </a:lnSpc>
              </a:pPr>
              <a:r>
                <a:rPr lang="en-US" sz="176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    *  id_estapa_solicitud                       NUMBER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5409" y="1038225"/>
            <a:ext cx="13369423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9"/>
              </a:lnSpc>
              <a:spcBef>
                <a:spcPct val="0"/>
              </a:spcBef>
            </a:pPr>
            <a:r>
              <a:rPr lang="en-US" sz="3999" b="1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Elementos Analíticos a Incorporar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52213" y="1856105"/>
            <a:ext cx="1540937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50"/>
              </a:lnSpc>
            </a:pPr>
            <a:r>
              <a:rPr lang="en-US" sz="2500" b="1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 1: Efici</a:t>
            </a:r>
            <a:r>
              <a:rPr lang="en-US" sz="2500" b="1" u="none" strike="noStrike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encia del proceso por consultor y tipo de servicio en el tiempo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7" name="Freeform 7"/>
          <p:cNvSpPr/>
          <p:nvPr/>
        </p:nvSpPr>
        <p:spPr>
          <a:xfrm>
            <a:off x="5428618" y="2842049"/>
            <a:ext cx="6835856" cy="7233710"/>
          </a:xfrm>
          <a:custGeom>
            <a:avLst/>
            <a:gdLst/>
            <a:ahLst/>
            <a:cxnLst/>
            <a:rect l="l" t="t" r="r" b="b"/>
            <a:pathLst>
              <a:path w="6835856" h="7233710">
                <a:moveTo>
                  <a:pt x="0" y="0"/>
                </a:moveTo>
                <a:lnTo>
                  <a:pt x="6835856" y="0"/>
                </a:lnTo>
                <a:lnTo>
                  <a:pt x="6835856" y="7233710"/>
                </a:lnTo>
                <a:lnTo>
                  <a:pt x="0" y="7233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7018495" y="3353080"/>
            <a:ext cx="1821626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¿Qué?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8852" y="7153276"/>
            <a:ext cx="2335148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¿Cómo?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121" y="8808800"/>
            <a:ext cx="3693496" cy="108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295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¿Con qué periodicidad?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5296535"/>
            <a:ext cx="2583626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¿Por qué?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9268" y="2692210"/>
            <a:ext cx="4808494" cy="251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7"/>
              </a:lnSpc>
            </a:pPr>
            <a:r>
              <a:rPr lang="en-US" sz="2100">
                <a:solidFill>
                  <a:srgbClr val="003457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100" u="none" strike="noStrike">
                <a:solidFill>
                  <a:srgbClr val="003457"/>
                </a:solidFill>
                <a:latin typeface="Montserrat"/>
                <a:ea typeface="Montserrat"/>
                <a:cs typeface="Montserrat"/>
                <a:sym typeface="Montserrat"/>
              </a:rPr>
              <a:t>edir cuánto tarda realmente cada proceso y cómo varía esa  según el tipo de servicio y el consultor asignado, para identificar si ciertos servicios o consultores son sistemáticamente más rápidos o más lentos.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4499" y="4124810"/>
            <a:ext cx="5433123" cy="287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7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Porque la duración estimada puede variar no solo por la complejidad del servicio, sino también por la carga de trabajo, experiencia y desempeño del consultor.</a:t>
            </a:r>
          </a:p>
          <a:p>
            <a:pPr marL="0" lvl="0" indent="0" algn="l">
              <a:lnSpc>
                <a:spcPts val="2877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Este análisis permite detectar brechas de productividad, cuellos de botella y servicios más lentos o más rápidos.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9645" y="6379464"/>
            <a:ext cx="4938117" cy="287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7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ruce de datos entre procesos, consultores y tipos de servicio. Se calculan desviaciones y se clasifican en categorías (adelanto, a tiempo, atraso leve, atraso grave), usando las métricas duración_real_dias, duración_estimada_dias, calculo_desviación y su clasificación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64499" y="8528495"/>
            <a:ext cx="4991193" cy="143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7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ensual y trimestral, para detectar tendencias y tomar decisiones de mejora continua en la planificación de procesos.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16297" y="3121039"/>
            <a:ext cx="990748" cy="990748"/>
          </a:xfrm>
          <a:custGeom>
            <a:avLst/>
            <a:gdLst/>
            <a:ahLst/>
            <a:cxnLst/>
            <a:rect l="l" t="t" r="r" b="b"/>
            <a:pathLst>
              <a:path w="990748" h="990748">
                <a:moveTo>
                  <a:pt x="0" y="0"/>
                </a:moveTo>
                <a:lnTo>
                  <a:pt x="990747" y="0"/>
                </a:lnTo>
                <a:lnTo>
                  <a:pt x="990747" y="990748"/>
                </a:lnTo>
                <a:lnTo>
                  <a:pt x="0" y="990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8840121" y="5059858"/>
            <a:ext cx="516997" cy="826594"/>
          </a:xfrm>
          <a:custGeom>
            <a:avLst/>
            <a:gdLst/>
            <a:ahLst/>
            <a:cxnLst/>
            <a:rect l="l" t="t" r="r" b="b"/>
            <a:pathLst>
              <a:path w="516997" h="826594">
                <a:moveTo>
                  <a:pt x="0" y="0"/>
                </a:moveTo>
                <a:lnTo>
                  <a:pt x="516997" y="0"/>
                </a:lnTo>
                <a:lnTo>
                  <a:pt x="516997" y="826593"/>
                </a:lnTo>
                <a:lnTo>
                  <a:pt x="0" y="826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6097606" y="6968709"/>
            <a:ext cx="869741" cy="895801"/>
          </a:xfrm>
          <a:custGeom>
            <a:avLst/>
            <a:gdLst/>
            <a:ahLst/>
            <a:cxnLst/>
            <a:rect l="l" t="t" r="r" b="b"/>
            <a:pathLst>
              <a:path w="869741" h="895801">
                <a:moveTo>
                  <a:pt x="0" y="0"/>
                </a:moveTo>
                <a:lnTo>
                  <a:pt x="869742" y="0"/>
                </a:lnTo>
                <a:lnTo>
                  <a:pt x="869742" y="895801"/>
                </a:lnTo>
                <a:lnTo>
                  <a:pt x="0" y="895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8632538" y="8716113"/>
            <a:ext cx="989312" cy="741984"/>
          </a:xfrm>
          <a:custGeom>
            <a:avLst/>
            <a:gdLst/>
            <a:ahLst/>
            <a:cxnLst/>
            <a:rect l="l" t="t" r="r" b="b"/>
            <a:pathLst>
              <a:path w="989312" h="741984">
                <a:moveTo>
                  <a:pt x="0" y="0"/>
                </a:moveTo>
                <a:lnTo>
                  <a:pt x="989312" y="0"/>
                </a:lnTo>
                <a:lnTo>
                  <a:pt x="989312" y="741984"/>
                </a:lnTo>
                <a:lnTo>
                  <a:pt x="0" y="7419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5409" y="1038225"/>
            <a:ext cx="13369423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9"/>
              </a:lnSpc>
              <a:spcBef>
                <a:spcPct val="0"/>
              </a:spcBef>
            </a:pPr>
            <a:r>
              <a:rPr lang="en-US" sz="3999" b="1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Elementos Analíticos a Incorporar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2247" y="1856105"/>
            <a:ext cx="16417053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50"/>
              </a:lnSpc>
            </a:pPr>
            <a:r>
              <a:rPr lang="en-US" sz="2500" b="1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 2: Efectividad y variació</a:t>
            </a:r>
            <a:r>
              <a:rPr lang="en-US" sz="2500" b="1" u="none" strike="noStrike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 de portales de reclutamiento en el tiempo según tipo de servicio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7" name="Freeform 7"/>
          <p:cNvSpPr/>
          <p:nvPr/>
        </p:nvSpPr>
        <p:spPr>
          <a:xfrm>
            <a:off x="5428618" y="2842049"/>
            <a:ext cx="6835856" cy="7233710"/>
          </a:xfrm>
          <a:custGeom>
            <a:avLst/>
            <a:gdLst/>
            <a:ahLst/>
            <a:cxnLst/>
            <a:rect l="l" t="t" r="r" b="b"/>
            <a:pathLst>
              <a:path w="6835856" h="7233710">
                <a:moveTo>
                  <a:pt x="0" y="0"/>
                </a:moveTo>
                <a:lnTo>
                  <a:pt x="6835856" y="0"/>
                </a:lnTo>
                <a:lnTo>
                  <a:pt x="6835856" y="7233710"/>
                </a:lnTo>
                <a:lnTo>
                  <a:pt x="0" y="7233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7018495" y="3353080"/>
            <a:ext cx="1821626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¿Qué?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8852" y="7153276"/>
            <a:ext cx="2335148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¿Cómo?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121" y="8808800"/>
            <a:ext cx="3693496" cy="108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295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¿Con qué periodicidad?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5296535"/>
            <a:ext cx="2583626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¿Por qué?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0099" y="2692210"/>
            <a:ext cx="4808494" cy="251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7"/>
              </a:lnSpc>
            </a:pPr>
            <a:r>
              <a:rPr lang="en-US" sz="2100">
                <a:solidFill>
                  <a:srgbClr val="003457"/>
                </a:solidFill>
                <a:latin typeface="Montserrat"/>
                <a:ea typeface="Montserrat"/>
                <a:cs typeface="Montserrat"/>
                <a:sym typeface="Montserrat"/>
              </a:rPr>
              <a:t>Eval</a:t>
            </a:r>
            <a:r>
              <a:rPr lang="en-US" sz="2100" u="none" strike="noStrike">
                <a:solidFill>
                  <a:srgbClr val="003457"/>
                </a:solidFill>
                <a:latin typeface="Montserrat"/>
                <a:ea typeface="Montserrat"/>
                <a:cs typeface="Montserrat"/>
                <a:sym typeface="Montserrat"/>
              </a:rPr>
              <a:t>uar el rendimiento de cada portal para identificar cuáles generan candidatos con mayor tasa de contratación, analizando su evolución trimestral, para tomar decisiones sobre mantener o eliminar suscripciones a ese portal.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4499" y="3476524"/>
            <a:ext cx="5433123" cy="396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7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Porque los portales tienen diferentes niveles de efectividad según el tipo de servicio, región y perfil de cargo. La efectividad puede variar en el tiempo por cambios en la plataforma, competencia o mercado laboral. Este análisis permite optimizar el presupuesto, identificar portales que ya no aportan valor y detectar cambios en la efectividad para ajustar estrategias de contratación.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824" y="6430329"/>
            <a:ext cx="5103769" cy="360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7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ruce entre portales, postulaciones, candidatos, contrataciones y procesos. Cálculos de los candidatos recibidos, presentados, aprobados por portal, tasa de aprobados (aprobados/presentados), tasa de contratación (contratados/presentados y variaciones según temporalidad y calificación promedio por candidato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64499" y="8528495"/>
            <a:ext cx="5305933" cy="143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7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evisión trimestral y anual, para alertar caídas significativas en efectividad o variación negativa sostenida para evaluar renovación de suscripciones.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16297" y="3121039"/>
            <a:ext cx="990748" cy="990748"/>
          </a:xfrm>
          <a:custGeom>
            <a:avLst/>
            <a:gdLst/>
            <a:ahLst/>
            <a:cxnLst/>
            <a:rect l="l" t="t" r="r" b="b"/>
            <a:pathLst>
              <a:path w="990748" h="990748">
                <a:moveTo>
                  <a:pt x="0" y="0"/>
                </a:moveTo>
                <a:lnTo>
                  <a:pt x="990747" y="0"/>
                </a:lnTo>
                <a:lnTo>
                  <a:pt x="990747" y="990748"/>
                </a:lnTo>
                <a:lnTo>
                  <a:pt x="0" y="990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8840121" y="5059858"/>
            <a:ext cx="516997" cy="826594"/>
          </a:xfrm>
          <a:custGeom>
            <a:avLst/>
            <a:gdLst/>
            <a:ahLst/>
            <a:cxnLst/>
            <a:rect l="l" t="t" r="r" b="b"/>
            <a:pathLst>
              <a:path w="516997" h="826594">
                <a:moveTo>
                  <a:pt x="0" y="0"/>
                </a:moveTo>
                <a:lnTo>
                  <a:pt x="516997" y="0"/>
                </a:lnTo>
                <a:lnTo>
                  <a:pt x="516997" y="826593"/>
                </a:lnTo>
                <a:lnTo>
                  <a:pt x="0" y="826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6097606" y="6968709"/>
            <a:ext cx="869741" cy="895801"/>
          </a:xfrm>
          <a:custGeom>
            <a:avLst/>
            <a:gdLst/>
            <a:ahLst/>
            <a:cxnLst/>
            <a:rect l="l" t="t" r="r" b="b"/>
            <a:pathLst>
              <a:path w="869741" h="895801">
                <a:moveTo>
                  <a:pt x="0" y="0"/>
                </a:moveTo>
                <a:lnTo>
                  <a:pt x="869742" y="0"/>
                </a:lnTo>
                <a:lnTo>
                  <a:pt x="869742" y="895801"/>
                </a:lnTo>
                <a:lnTo>
                  <a:pt x="0" y="895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8632538" y="8716113"/>
            <a:ext cx="989312" cy="741984"/>
          </a:xfrm>
          <a:custGeom>
            <a:avLst/>
            <a:gdLst/>
            <a:ahLst/>
            <a:cxnLst/>
            <a:rect l="l" t="t" r="r" b="b"/>
            <a:pathLst>
              <a:path w="989312" h="741984">
                <a:moveTo>
                  <a:pt x="0" y="0"/>
                </a:moveTo>
                <a:lnTo>
                  <a:pt x="989312" y="0"/>
                </a:lnTo>
                <a:lnTo>
                  <a:pt x="989312" y="741984"/>
                </a:lnTo>
                <a:lnTo>
                  <a:pt x="0" y="7419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5409" y="1038225"/>
            <a:ext cx="13369423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9"/>
              </a:lnSpc>
              <a:spcBef>
                <a:spcPct val="0"/>
              </a:spcBef>
            </a:pPr>
            <a:r>
              <a:rPr lang="en-US" sz="3999" b="1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Elementos Analíticos a Incorporar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48591" y="1892937"/>
            <a:ext cx="16417053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50"/>
              </a:lnSpc>
            </a:pPr>
            <a:r>
              <a:rPr lang="en-US" sz="2500" b="1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 3: Tendencias y estacio</a:t>
            </a:r>
            <a:r>
              <a:rPr lang="en-US" sz="2500" b="1" u="none" strike="noStrike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nalidad de la demanda por tipo de servicio región y tiempo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7" name="Freeform 7"/>
          <p:cNvSpPr/>
          <p:nvPr/>
        </p:nvSpPr>
        <p:spPr>
          <a:xfrm>
            <a:off x="5428618" y="2842049"/>
            <a:ext cx="6835856" cy="7233710"/>
          </a:xfrm>
          <a:custGeom>
            <a:avLst/>
            <a:gdLst/>
            <a:ahLst/>
            <a:cxnLst/>
            <a:rect l="l" t="t" r="r" b="b"/>
            <a:pathLst>
              <a:path w="6835856" h="7233710">
                <a:moveTo>
                  <a:pt x="0" y="0"/>
                </a:moveTo>
                <a:lnTo>
                  <a:pt x="6835856" y="0"/>
                </a:lnTo>
                <a:lnTo>
                  <a:pt x="6835856" y="7233710"/>
                </a:lnTo>
                <a:lnTo>
                  <a:pt x="0" y="7233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7018495" y="3353080"/>
            <a:ext cx="1821626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¿Qué?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8852" y="7153276"/>
            <a:ext cx="2335148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¿Cómo?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121" y="8808800"/>
            <a:ext cx="3693496" cy="108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295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¿Con qué periodicidad?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5296535"/>
            <a:ext cx="2583626" cy="51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3395" b="1" u="none" strike="noStrik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¿Por qué?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0099" y="2833202"/>
            <a:ext cx="4808494" cy="179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7"/>
              </a:lnSpc>
            </a:pPr>
            <a:r>
              <a:rPr lang="en-US" sz="2100">
                <a:solidFill>
                  <a:srgbClr val="003457"/>
                </a:solidFill>
                <a:latin typeface="Montserrat"/>
                <a:ea typeface="Montserrat"/>
                <a:cs typeface="Montserrat"/>
                <a:sym typeface="Montserrat"/>
              </a:rPr>
              <a:t>Analiz</a:t>
            </a:r>
            <a:r>
              <a:rPr lang="en-US" sz="2100" u="none" strike="noStrike">
                <a:solidFill>
                  <a:srgbClr val="003457"/>
                </a:solidFill>
                <a:latin typeface="Montserrat"/>
                <a:ea typeface="Montserrat"/>
                <a:cs typeface="Montserrat"/>
                <a:sym typeface="Montserrat"/>
              </a:rPr>
              <a:t>ar cómo cambia la demanda de solicitudes según tiempo, región y tipo de servicio, identificando picos estacionales y zonas con mayor necesidad operativa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4499" y="4485471"/>
            <a:ext cx="5433123" cy="251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7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Porque con esto se pueden planificar recursos según su demanda real (por ejemplo, inicios de año o cierre de semestre) y según su zona geográfica. Comprender estas tendencias también ayuda a preparar la capacidad operativa del cliente.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993" y="5487479"/>
            <a:ext cx="5103769" cy="4326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7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ruce de datos por mes, año, tipo de servicio y región para calcular la cantidad total y variación porcentual de servicios contratados. Identificación de picos y bajas estacionales mediante series temporales y mapas de calor por región y tipo de servicio, usando métricas como: total_servicio_contratado, variación_tiempo y proporcion_por_tipo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64499" y="8709469"/>
            <a:ext cx="5305933" cy="106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7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evisión trimestral y anual, con alertas de aumento de demanda por sobre el promedio histórico.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16297" y="3121039"/>
            <a:ext cx="990748" cy="990748"/>
          </a:xfrm>
          <a:custGeom>
            <a:avLst/>
            <a:gdLst/>
            <a:ahLst/>
            <a:cxnLst/>
            <a:rect l="l" t="t" r="r" b="b"/>
            <a:pathLst>
              <a:path w="990748" h="990748">
                <a:moveTo>
                  <a:pt x="0" y="0"/>
                </a:moveTo>
                <a:lnTo>
                  <a:pt x="990747" y="0"/>
                </a:lnTo>
                <a:lnTo>
                  <a:pt x="990747" y="990748"/>
                </a:lnTo>
                <a:lnTo>
                  <a:pt x="0" y="990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8840121" y="5059858"/>
            <a:ext cx="516997" cy="826594"/>
          </a:xfrm>
          <a:custGeom>
            <a:avLst/>
            <a:gdLst/>
            <a:ahLst/>
            <a:cxnLst/>
            <a:rect l="l" t="t" r="r" b="b"/>
            <a:pathLst>
              <a:path w="516997" h="826594">
                <a:moveTo>
                  <a:pt x="0" y="0"/>
                </a:moveTo>
                <a:lnTo>
                  <a:pt x="516997" y="0"/>
                </a:lnTo>
                <a:lnTo>
                  <a:pt x="516997" y="826593"/>
                </a:lnTo>
                <a:lnTo>
                  <a:pt x="0" y="826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6097606" y="6968709"/>
            <a:ext cx="869741" cy="895801"/>
          </a:xfrm>
          <a:custGeom>
            <a:avLst/>
            <a:gdLst/>
            <a:ahLst/>
            <a:cxnLst/>
            <a:rect l="l" t="t" r="r" b="b"/>
            <a:pathLst>
              <a:path w="869741" h="895801">
                <a:moveTo>
                  <a:pt x="0" y="0"/>
                </a:moveTo>
                <a:lnTo>
                  <a:pt x="869742" y="0"/>
                </a:lnTo>
                <a:lnTo>
                  <a:pt x="869742" y="895801"/>
                </a:lnTo>
                <a:lnTo>
                  <a:pt x="0" y="895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8632538" y="8716113"/>
            <a:ext cx="989312" cy="741984"/>
          </a:xfrm>
          <a:custGeom>
            <a:avLst/>
            <a:gdLst/>
            <a:ahLst/>
            <a:cxnLst/>
            <a:rect l="l" t="t" r="r" b="b"/>
            <a:pathLst>
              <a:path w="989312" h="741984">
                <a:moveTo>
                  <a:pt x="0" y="0"/>
                </a:moveTo>
                <a:lnTo>
                  <a:pt x="989312" y="0"/>
                </a:lnTo>
                <a:lnTo>
                  <a:pt x="989312" y="741984"/>
                </a:lnTo>
                <a:lnTo>
                  <a:pt x="0" y="7419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538307" y="1083964"/>
            <a:ext cx="11092518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44"/>
              </a:lnSpc>
              <a:spcBef>
                <a:spcPct val="0"/>
              </a:spcBef>
            </a:pPr>
            <a:r>
              <a:rPr lang="en-US" sz="4499" b="1" u="none" strike="noStrike">
                <a:solidFill>
                  <a:srgbClr val="0033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Tecnologías y Herramientas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6" name="Freeform 6"/>
          <p:cNvSpPr/>
          <p:nvPr/>
        </p:nvSpPr>
        <p:spPr>
          <a:xfrm>
            <a:off x="6173830" y="3009603"/>
            <a:ext cx="5828763" cy="5828763"/>
          </a:xfrm>
          <a:custGeom>
            <a:avLst/>
            <a:gdLst/>
            <a:ahLst/>
            <a:cxnLst/>
            <a:rect l="l" t="t" r="r" b="b"/>
            <a:pathLst>
              <a:path w="5828763" h="5828763">
                <a:moveTo>
                  <a:pt x="0" y="0"/>
                </a:moveTo>
                <a:lnTo>
                  <a:pt x="5828762" y="0"/>
                </a:lnTo>
                <a:lnTo>
                  <a:pt x="5828762" y="5828762"/>
                </a:lnTo>
                <a:lnTo>
                  <a:pt x="0" y="5828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6608554" y="3451619"/>
            <a:ext cx="4952023" cy="495202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algn="ctr">
                <a:lnSpc>
                  <a:spcPts val="161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10967" y="4743941"/>
            <a:ext cx="483738" cy="48373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60095" y="3136724"/>
            <a:ext cx="483738" cy="48373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55594" y="8231594"/>
            <a:ext cx="483738" cy="48373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82544" y="4763385"/>
            <a:ext cx="483738" cy="48373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82544" y="6703245"/>
            <a:ext cx="483738" cy="48373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3758" y="2119171"/>
            <a:ext cx="6226597" cy="1635998"/>
            <a:chOff x="0" y="0"/>
            <a:chExt cx="1663785" cy="43714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63785" cy="437149"/>
            </a:xfrm>
            <a:custGeom>
              <a:avLst/>
              <a:gdLst/>
              <a:ahLst/>
              <a:cxnLst/>
              <a:rect l="l" t="t" r="r" b="b"/>
              <a:pathLst>
                <a:path w="1663785" h="437149">
                  <a:moveTo>
                    <a:pt x="1460585" y="0"/>
                  </a:moveTo>
                  <a:cubicBezTo>
                    <a:pt x="1572809" y="0"/>
                    <a:pt x="1663785" y="97859"/>
                    <a:pt x="1663785" y="218574"/>
                  </a:cubicBezTo>
                  <a:cubicBezTo>
                    <a:pt x="1663785" y="339290"/>
                    <a:pt x="1572809" y="437149"/>
                    <a:pt x="1460585" y="437149"/>
                  </a:cubicBezTo>
                  <a:lnTo>
                    <a:pt x="203200" y="437149"/>
                  </a:lnTo>
                  <a:cubicBezTo>
                    <a:pt x="90976" y="437149"/>
                    <a:pt x="0" y="339290"/>
                    <a:pt x="0" y="218574"/>
                  </a:cubicBezTo>
                  <a:cubicBezTo>
                    <a:pt x="0" y="9785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663785" cy="465724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20915" y="3154313"/>
            <a:ext cx="483738" cy="483738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420915" y="8203085"/>
            <a:ext cx="483738" cy="483738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610967" y="6703245"/>
            <a:ext cx="483738" cy="48373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0C8E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0438" y="4164744"/>
            <a:ext cx="5491855" cy="1693384"/>
            <a:chOff x="0" y="0"/>
            <a:chExt cx="1467458" cy="45248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0438" y="6098422"/>
            <a:ext cx="5491855" cy="1693384"/>
            <a:chOff x="0" y="0"/>
            <a:chExt cx="1467458" cy="4524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3895" y="8028038"/>
            <a:ext cx="5491855" cy="1693384"/>
            <a:chOff x="0" y="0"/>
            <a:chExt cx="1467458" cy="45248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237026" y="2235128"/>
            <a:ext cx="5491855" cy="1693384"/>
            <a:chOff x="0" y="0"/>
            <a:chExt cx="1467458" cy="45248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568316" y="4185523"/>
            <a:ext cx="5491855" cy="1693384"/>
            <a:chOff x="0" y="0"/>
            <a:chExt cx="1467458" cy="4524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311734" y="6098422"/>
            <a:ext cx="5909769" cy="1730643"/>
            <a:chOff x="0" y="0"/>
            <a:chExt cx="1579127" cy="46243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79127" cy="462439"/>
            </a:xfrm>
            <a:custGeom>
              <a:avLst/>
              <a:gdLst/>
              <a:ahLst/>
              <a:cxnLst/>
              <a:rect l="l" t="t" r="r" b="b"/>
              <a:pathLst>
                <a:path w="1579127" h="462439">
                  <a:moveTo>
                    <a:pt x="1375927" y="0"/>
                  </a:moveTo>
                  <a:cubicBezTo>
                    <a:pt x="1488151" y="0"/>
                    <a:pt x="1579127" y="103520"/>
                    <a:pt x="1579127" y="231219"/>
                  </a:cubicBezTo>
                  <a:cubicBezTo>
                    <a:pt x="1579127" y="358918"/>
                    <a:pt x="1488151" y="462439"/>
                    <a:pt x="1375927" y="462439"/>
                  </a:cubicBezTo>
                  <a:lnTo>
                    <a:pt x="203200" y="462439"/>
                  </a:lnTo>
                  <a:cubicBezTo>
                    <a:pt x="90976" y="462439"/>
                    <a:pt x="0" y="358918"/>
                    <a:pt x="0" y="231219"/>
                  </a:cubicBezTo>
                  <a:cubicBezTo>
                    <a:pt x="0" y="10352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1579127" cy="491014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283880" y="8056241"/>
            <a:ext cx="5491855" cy="1693384"/>
            <a:chOff x="0" y="0"/>
            <a:chExt cx="1467458" cy="45248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396546" y="2176281"/>
            <a:ext cx="3815259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Bibli</a:t>
            </a: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oteca de JavaScript para construir interfaces de usuario modulares, facilitando la experiencia del usuario y el mantenimiento del frontend.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81643" y="4794386"/>
            <a:ext cx="3678180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Framework de React para aplicaciones web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12165" y="6736580"/>
            <a:ext cx="3678180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Lenguaje programación tipado estático de JS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048015" y="8093193"/>
            <a:ext cx="2604249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Entorno de ejecución de JavaScript en el lado del servidor, permite conectar el frontend con la base de datos.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961480" y="2336647"/>
            <a:ext cx="3678180" cy="1206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ontrol de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versiones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permite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gestionar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el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código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fuente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mantener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historial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cambios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facilitar</a:t>
            </a:r>
            <a:r>
              <a:rPr lang="en-US" sz="1700" u="none" strike="noStrike" dirty="0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1700" u="none" strike="noStrike" dirty="0" err="1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colaboración</a:t>
            </a:r>
            <a:endParaRPr lang="en-US" sz="1700" u="none" strike="noStrike" dirty="0">
              <a:solidFill>
                <a:srgbClr val="003356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4315141" y="4604787"/>
            <a:ext cx="3678180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Sistema de gestión de bases de datos relacional, robusto y escalable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662119" y="6222402"/>
            <a:ext cx="3331202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ORM para node.js que permite interactuar con PostgreSQL utilizando objetos de JavaScript en lugar de escribir consultas SQL directas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841208" y="8610732"/>
            <a:ext cx="2651137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003356"/>
                </a:solidFill>
                <a:latin typeface="Gotham"/>
                <a:ea typeface="Gotham"/>
                <a:cs typeface="Gotham"/>
                <a:sym typeface="Gotham"/>
              </a:rPr>
              <a:t>Framework web para node.js</a:t>
            </a:r>
          </a:p>
        </p:txBody>
      </p:sp>
      <p:sp>
        <p:nvSpPr>
          <p:cNvPr id="66" name="Freeform 66"/>
          <p:cNvSpPr/>
          <p:nvPr/>
        </p:nvSpPr>
        <p:spPr>
          <a:xfrm>
            <a:off x="4682282" y="2455009"/>
            <a:ext cx="2062577" cy="964322"/>
          </a:xfrm>
          <a:custGeom>
            <a:avLst/>
            <a:gdLst/>
            <a:ahLst/>
            <a:cxnLst/>
            <a:rect l="l" t="t" r="r" b="b"/>
            <a:pathLst>
              <a:path w="2062577" h="964322">
                <a:moveTo>
                  <a:pt x="0" y="0"/>
                </a:moveTo>
                <a:lnTo>
                  <a:pt x="2062577" y="0"/>
                </a:lnTo>
                <a:lnTo>
                  <a:pt x="2062577" y="964322"/>
                </a:lnTo>
                <a:lnTo>
                  <a:pt x="0" y="964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7" name="Freeform 67"/>
          <p:cNvSpPr/>
          <p:nvPr/>
        </p:nvSpPr>
        <p:spPr>
          <a:xfrm>
            <a:off x="3994527" y="4374478"/>
            <a:ext cx="1315472" cy="1315472"/>
          </a:xfrm>
          <a:custGeom>
            <a:avLst/>
            <a:gdLst/>
            <a:ahLst/>
            <a:cxnLst/>
            <a:rect l="l" t="t" r="r" b="b"/>
            <a:pathLst>
              <a:path w="1315472" h="1315472">
                <a:moveTo>
                  <a:pt x="0" y="0"/>
                </a:moveTo>
                <a:lnTo>
                  <a:pt x="1315473" y="0"/>
                </a:lnTo>
                <a:lnTo>
                  <a:pt x="1315473" y="1315473"/>
                </a:lnTo>
                <a:lnTo>
                  <a:pt x="0" y="1315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8" name="Freeform 68"/>
          <p:cNvSpPr/>
          <p:nvPr/>
        </p:nvSpPr>
        <p:spPr>
          <a:xfrm>
            <a:off x="4186895" y="6395008"/>
            <a:ext cx="990774" cy="990774"/>
          </a:xfrm>
          <a:custGeom>
            <a:avLst/>
            <a:gdLst/>
            <a:ahLst/>
            <a:cxnLst/>
            <a:rect l="l" t="t" r="r" b="b"/>
            <a:pathLst>
              <a:path w="990774" h="990774">
                <a:moveTo>
                  <a:pt x="0" y="0"/>
                </a:moveTo>
                <a:lnTo>
                  <a:pt x="990774" y="0"/>
                </a:lnTo>
                <a:lnTo>
                  <a:pt x="990774" y="990774"/>
                </a:lnTo>
                <a:lnTo>
                  <a:pt x="0" y="990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9" name="Freeform 69"/>
          <p:cNvSpPr/>
          <p:nvPr/>
        </p:nvSpPr>
        <p:spPr>
          <a:xfrm>
            <a:off x="4652264" y="8463938"/>
            <a:ext cx="2448872" cy="658134"/>
          </a:xfrm>
          <a:custGeom>
            <a:avLst/>
            <a:gdLst/>
            <a:ahLst/>
            <a:cxnLst/>
            <a:rect l="l" t="t" r="r" b="b"/>
            <a:pathLst>
              <a:path w="2448872" h="658134">
                <a:moveTo>
                  <a:pt x="0" y="0"/>
                </a:moveTo>
                <a:lnTo>
                  <a:pt x="2448872" y="0"/>
                </a:lnTo>
                <a:lnTo>
                  <a:pt x="2448872" y="658134"/>
                </a:lnTo>
                <a:lnTo>
                  <a:pt x="0" y="6581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0" name="Freeform 70"/>
          <p:cNvSpPr/>
          <p:nvPr/>
        </p:nvSpPr>
        <p:spPr>
          <a:xfrm>
            <a:off x="11485814" y="8562783"/>
            <a:ext cx="2183629" cy="623894"/>
          </a:xfrm>
          <a:custGeom>
            <a:avLst/>
            <a:gdLst/>
            <a:ahLst/>
            <a:cxnLst/>
            <a:rect l="l" t="t" r="r" b="b"/>
            <a:pathLst>
              <a:path w="2183629" h="623894">
                <a:moveTo>
                  <a:pt x="0" y="0"/>
                </a:moveTo>
                <a:lnTo>
                  <a:pt x="2183628" y="0"/>
                </a:lnTo>
                <a:lnTo>
                  <a:pt x="2183628" y="623894"/>
                </a:lnTo>
                <a:lnTo>
                  <a:pt x="0" y="623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1" name="Freeform 71"/>
          <p:cNvSpPr/>
          <p:nvPr/>
        </p:nvSpPr>
        <p:spPr>
          <a:xfrm>
            <a:off x="12403174" y="6521210"/>
            <a:ext cx="2148276" cy="892728"/>
          </a:xfrm>
          <a:custGeom>
            <a:avLst/>
            <a:gdLst/>
            <a:ahLst/>
            <a:cxnLst/>
            <a:rect l="l" t="t" r="r" b="b"/>
            <a:pathLst>
              <a:path w="2148276" h="892728">
                <a:moveTo>
                  <a:pt x="0" y="0"/>
                </a:moveTo>
                <a:lnTo>
                  <a:pt x="2148276" y="0"/>
                </a:lnTo>
                <a:lnTo>
                  <a:pt x="2148276" y="892728"/>
                </a:lnTo>
                <a:lnTo>
                  <a:pt x="0" y="892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2" name="Freeform 72"/>
          <p:cNvSpPr/>
          <p:nvPr/>
        </p:nvSpPr>
        <p:spPr>
          <a:xfrm>
            <a:off x="12961480" y="4435051"/>
            <a:ext cx="1194328" cy="1194328"/>
          </a:xfrm>
          <a:custGeom>
            <a:avLst/>
            <a:gdLst/>
            <a:ahLst/>
            <a:cxnLst/>
            <a:rect l="l" t="t" r="r" b="b"/>
            <a:pathLst>
              <a:path w="1194328" h="1194328">
                <a:moveTo>
                  <a:pt x="0" y="0"/>
                </a:moveTo>
                <a:lnTo>
                  <a:pt x="1194328" y="0"/>
                </a:lnTo>
                <a:lnTo>
                  <a:pt x="1194328" y="1194328"/>
                </a:lnTo>
                <a:lnTo>
                  <a:pt x="0" y="11943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3" name="Freeform 73"/>
          <p:cNvSpPr/>
          <p:nvPr/>
        </p:nvSpPr>
        <p:spPr>
          <a:xfrm>
            <a:off x="11220888" y="2426457"/>
            <a:ext cx="1747633" cy="1310725"/>
          </a:xfrm>
          <a:custGeom>
            <a:avLst/>
            <a:gdLst/>
            <a:ahLst/>
            <a:cxnLst/>
            <a:rect l="l" t="t" r="r" b="b"/>
            <a:pathLst>
              <a:path w="1747633" h="1310725">
                <a:moveTo>
                  <a:pt x="0" y="0"/>
                </a:moveTo>
                <a:lnTo>
                  <a:pt x="1747634" y="0"/>
                </a:lnTo>
                <a:lnTo>
                  <a:pt x="1747634" y="1310725"/>
                </a:lnTo>
                <a:lnTo>
                  <a:pt x="0" y="13107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4" name="Freeform 74"/>
          <p:cNvSpPr/>
          <p:nvPr/>
        </p:nvSpPr>
        <p:spPr>
          <a:xfrm>
            <a:off x="7700589" y="4431413"/>
            <a:ext cx="2886823" cy="3252758"/>
          </a:xfrm>
          <a:custGeom>
            <a:avLst/>
            <a:gdLst/>
            <a:ahLst/>
            <a:cxnLst/>
            <a:rect l="l" t="t" r="r" b="b"/>
            <a:pathLst>
              <a:path w="2886823" h="3252758">
                <a:moveTo>
                  <a:pt x="0" y="0"/>
                </a:moveTo>
                <a:lnTo>
                  <a:pt x="2886822" y="0"/>
                </a:lnTo>
                <a:lnTo>
                  <a:pt x="2886822" y="3252758"/>
                </a:lnTo>
                <a:lnTo>
                  <a:pt x="0" y="3252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06707" y="-297999"/>
            <a:ext cx="3307479" cy="10584999"/>
            <a:chOff x="0" y="0"/>
            <a:chExt cx="871106" cy="27878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1106" cy="2787819"/>
            </a:xfrm>
            <a:custGeom>
              <a:avLst/>
              <a:gdLst/>
              <a:ahLst/>
              <a:cxnLst/>
              <a:rect l="l" t="t" r="r" b="b"/>
              <a:pathLst>
                <a:path w="871106" h="2787819">
                  <a:moveTo>
                    <a:pt x="0" y="0"/>
                  </a:moveTo>
                  <a:lnTo>
                    <a:pt x="871106" y="0"/>
                  </a:lnTo>
                  <a:lnTo>
                    <a:pt x="871106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00335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871106" cy="2902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300607" y="2265446"/>
            <a:ext cx="1673745" cy="7578983"/>
            <a:chOff x="0" y="0"/>
            <a:chExt cx="440822" cy="1996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0822" cy="1996111"/>
            </a:xfrm>
            <a:custGeom>
              <a:avLst/>
              <a:gdLst/>
              <a:ahLst/>
              <a:cxnLst/>
              <a:rect l="l" t="t" r="r" b="b"/>
              <a:pathLst>
                <a:path w="440822" h="1996111">
                  <a:moveTo>
                    <a:pt x="124889" y="0"/>
                  </a:moveTo>
                  <a:lnTo>
                    <a:pt x="315933" y="0"/>
                  </a:lnTo>
                  <a:cubicBezTo>
                    <a:pt x="384907" y="0"/>
                    <a:pt x="440822" y="55915"/>
                    <a:pt x="440822" y="124889"/>
                  </a:cubicBezTo>
                  <a:lnTo>
                    <a:pt x="440822" y="1871222"/>
                  </a:lnTo>
                  <a:cubicBezTo>
                    <a:pt x="440822" y="1940196"/>
                    <a:pt x="384907" y="1996111"/>
                    <a:pt x="315933" y="1996111"/>
                  </a:cubicBezTo>
                  <a:lnTo>
                    <a:pt x="124889" y="1996111"/>
                  </a:lnTo>
                  <a:cubicBezTo>
                    <a:pt x="55915" y="1996111"/>
                    <a:pt x="0" y="1940196"/>
                    <a:pt x="0" y="1871222"/>
                  </a:cubicBezTo>
                  <a:lnTo>
                    <a:pt x="0" y="124889"/>
                  </a:lnTo>
                  <a:cubicBezTo>
                    <a:pt x="0" y="55915"/>
                    <a:pt x="55915" y="0"/>
                    <a:pt x="124889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0822" cy="2034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 flipV="1">
            <a:off x="16800510" y="8869100"/>
            <a:ext cx="1277100" cy="1260846"/>
          </a:xfrm>
          <a:custGeom>
            <a:avLst/>
            <a:gdLst/>
            <a:ahLst/>
            <a:cxnLst/>
            <a:rect l="l" t="t" r="r" b="b"/>
            <a:pathLst>
              <a:path w="1277100" h="1260846">
                <a:moveTo>
                  <a:pt x="0" y="1260846"/>
                </a:moveTo>
                <a:lnTo>
                  <a:pt x="1277100" y="1260846"/>
                </a:lnTo>
                <a:lnTo>
                  <a:pt x="1277100" y="0"/>
                </a:lnTo>
                <a:lnTo>
                  <a:pt x="0" y="0"/>
                </a:lnTo>
                <a:lnTo>
                  <a:pt x="0" y="12608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2675151" y="2804350"/>
            <a:ext cx="883711" cy="920533"/>
          </a:xfrm>
          <a:custGeom>
            <a:avLst/>
            <a:gdLst/>
            <a:ahLst/>
            <a:cxnLst/>
            <a:rect l="l" t="t" r="r" b="b"/>
            <a:pathLst>
              <a:path w="883711" h="920533">
                <a:moveTo>
                  <a:pt x="0" y="0"/>
                </a:moveTo>
                <a:lnTo>
                  <a:pt x="883711" y="0"/>
                </a:lnTo>
                <a:lnTo>
                  <a:pt x="883711" y="920533"/>
                </a:lnTo>
                <a:lnTo>
                  <a:pt x="0" y="920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2691134" y="4311276"/>
            <a:ext cx="892689" cy="869966"/>
          </a:xfrm>
          <a:custGeom>
            <a:avLst/>
            <a:gdLst/>
            <a:ahLst/>
            <a:cxnLst/>
            <a:rect l="l" t="t" r="r" b="b"/>
            <a:pathLst>
              <a:path w="892689" h="869966">
                <a:moveTo>
                  <a:pt x="0" y="0"/>
                </a:moveTo>
                <a:lnTo>
                  <a:pt x="892689" y="0"/>
                </a:lnTo>
                <a:lnTo>
                  <a:pt x="892689" y="869966"/>
                </a:lnTo>
                <a:lnTo>
                  <a:pt x="0" y="869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2650128" y="5673974"/>
            <a:ext cx="1012802" cy="1012802"/>
          </a:xfrm>
          <a:custGeom>
            <a:avLst/>
            <a:gdLst/>
            <a:ahLst/>
            <a:cxnLst/>
            <a:rect l="l" t="t" r="r" b="b"/>
            <a:pathLst>
              <a:path w="1012802" h="1012802">
                <a:moveTo>
                  <a:pt x="0" y="0"/>
                </a:moveTo>
                <a:lnTo>
                  <a:pt x="1012802" y="0"/>
                </a:lnTo>
                <a:lnTo>
                  <a:pt x="1012802" y="1012802"/>
                </a:lnTo>
                <a:lnTo>
                  <a:pt x="0" y="10128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2615264" y="7122286"/>
            <a:ext cx="1131819" cy="1127575"/>
          </a:xfrm>
          <a:custGeom>
            <a:avLst/>
            <a:gdLst/>
            <a:ahLst/>
            <a:cxnLst/>
            <a:rect l="l" t="t" r="r" b="b"/>
            <a:pathLst>
              <a:path w="1131819" h="1127575">
                <a:moveTo>
                  <a:pt x="0" y="0"/>
                </a:moveTo>
                <a:lnTo>
                  <a:pt x="1131819" y="0"/>
                </a:lnTo>
                <a:lnTo>
                  <a:pt x="1131819" y="1127574"/>
                </a:lnTo>
                <a:lnTo>
                  <a:pt x="0" y="11275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2394098" y="7498700"/>
            <a:ext cx="544152" cy="508096"/>
            <a:chOff x="0" y="0"/>
            <a:chExt cx="143316" cy="133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3316" cy="133819"/>
            </a:xfrm>
            <a:custGeom>
              <a:avLst/>
              <a:gdLst/>
              <a:ahLst/>
              <a:cxnLst/>
              <a:rect l="l" t="t" r="r" b="b"/>
              <a:pathLst>
                <a:path w="143316" h="133819">
                  <a:moveTo>
                    <a:pt x="66910" y="0"/>
                  </a:moveTo>
                  <a:lnTo>
                    <a:pt x="76406" y="0"/>
                  </a:lnTo>
                  <a:cubicBezTo>
                    <a:pt x="113359" y="0"/>
                    <a:pt x="143316" y="29957"/>
                    <a:pt x="143316" y="66910"/>
                  </a:cubicBezTo>
                  <a:lnTo>
                    <a:pt x="143316" y="66910"/>
                  </a:lnTo>
                  <a:cubicBezTo>
                    <a:pt x="143316" y="84655"/>
                    <a:pt x="136266" y="101674"/>
                    <a:pt x="123718" y="114222"/>
                  </a:cubicBezTo>
                  <a:cubicBezTo>
                    <a:pt x="111170" y="126770"/>
                    <a:pt x="94152" y="133819"/>
                    <a:pt x="76406" y="133819"/>
                  </a:cubicBezTo>
                  <a:lnTo>
                    <a:pt x="66910" y="133819"/>
                  </a:lnTo>
                  <a:cubicBezTo>
                    <a:pt x="49164" y="133819"/>
                    <a:pt x="32145" y="126770"/>
                    <a:pt x="19597" y="114222"/>
                  </a:cubicBezTo>
                  <a:cubicBezTo>
                    <a:pt x="7049" y="101674"/>
                    <a:pt x="0" y="84655"/>
                    <a:pt x="0" y="66910"/>
                  </a:cubicBezTo>
                  <a:lnTo>
                    <a:pt x="0" y="66910"/>
                  </a:lnTo>
                  <a:cubicBezTo>
                    <a:pt x="0" y="49164"/>
                    <a:pt x="7049" y="32145"/>
                    <a:pt x="19597" y="19597"/>
                  </a:cubicBezTo>
                  <a:cubicBezTo>
                    <a:pt x="32145" y="7049"/>
                    <a:pt x="49164" y="0"/>
                    <a:pt x="66910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3316" cy="171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13799" y="7848386"/>
            <a:ext cx="544152" cy="508096"/>
            <a:chOff x="0" y="0"/>
            <a:chExt cx="143316" cy="133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3316" cy="133819"/>
            </a:xfrm>
            <a:custGeom>
              <a:avLst/>
              <a:gdLst/>
              <a:ahLst/>
              <a:cxnLst/>
              <a:rect l="l" t="t" r="r" b="b"/>
              <a:pathLst>
                <a:path w="143316" h="133819">
                  <a:moveTo>
                    <a:pt x="66910" y="0"/>
                  </a:moveTo>
                  <a:lnTo>
                    <a:pt x="76406" y="0"/>
                  </a:lnTo>
                  <a:cubicBezTo>
                    <a:pt x="113359" y="0"/>
                    <a:pt x="143316" y="29957"/>
                    <a:pt x="143316" y="66910"/>
                  </a:cubicBezTo>
                  <a:lnTo>
                    <a:pt x="143316" y="66910"/>
                  </a:lnTo>
                  <a:cubicBezTo>
                    <a:pt x="143316" y="84655"/>
                    <a:pt x="136266" y="101674"/>
                    <a:pt x="123718" y="114222"/>
                  </a:cubicBezTo>
                  <a:cubicBezTo>
                    <a:pt x="111170" y="126770"/>
                    <a:pt x="94152" y="133819"/>
                    <a:pt x="76406" y="133819"/>
                  </a:cubicBezTo>
                  <a:lnTo>
                    <a:pt x="66910" y="133819"/>
                  </a:lnTo>
                  <a:cubicBezTo>
                    <a:pt x="49164" y="133819"/>
                    <a:pt x="32145" y="126770"/>
                    <a:pt x="19597" y="114222"/>
                  </a:cubicBezTo>
                  <a:cubicBezTo>
                    <a:pt x="7049" y="101674"/>
                    <a:pt x="0" y="84655"/>
                    <a:pt x="0" y="66910"/>
                  </a:cubicBezTo>
                  <a:lnTo>
                    <a:pt x="0" y="66910"/>
                  </a:lnTo>
                  <a:cubicBezTo>
                    <a:pt x="0" y="49164"/>
                    <a:pt x="7049" y="32145"/>
                    <a:pt x="19597" y="19597"/>
                  </a:cubicBezTo>
                  <a:cubicBezTo>
                    <a:pt x="32145" y="7049"/>
                    <a:pt x="49164" y="0"/>
                    <a:pt x="66910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3316" cy="171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755238" y="8601909"/>
            <a:ext cx="872828" cy="967123"/>
          </a:xfrm>
          <a:custGeom>
            <a:avLst/>
            <a:gdLst/>
            <a:ahLst/>
            <a:cxnLst/>
            <a:rect l="l" t="t" r="r" b="b"/>
            <a:pathLst>
              <a:path w="872828" h="967123">
                <a:moveTo>
                  <a:pt x="0" y="0"/>
                </a:moveTo>
                <a:lnTo>
                  <a:pt x="872828" y="0"/>
                </a:lnTo>
                <a:lnTo>
                  <a:pt x="872828" y="967122"/>
                </a:lnTo>
                <a:lnTo>
                  <a:pt x="0" y="9671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4292722" y="982130"/>
            <a:ext cx="8356478" cy="112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549"/>
              </a:lnSpc>
              <a:spcBef>
                <a:spcPct val="0"/>
              </a:spcBef>
            </a:pPr>
            <a:r>
              <a:rPr lang="en-US" sz="5584" b="1" dirty="0" err="1">
                <a:solidFill>
                  <a:srgbClr val="003356"/>
                </a:solidFill>
                <a:latin typeface="Gotham Bold"/>
                <a:ea typeface="Gotham Bold"/>
                <a:cs typeface="Gotham Bold"/>
                <a:sym typeface="Gotham Bold"/>
              </a:rPr>
              <a:t>Resultados</a:t>
            </a:r>
            <a:r>
              <a:rPr lang="en-US" sz="5584" b="1" dirty="0">
                <a:solidFill>
                  <a:srgbClr val="003356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5584" b="1" u="none" strike="noStrike" dirty="0" err="1">
                <a:solidFill>
                  <a:srgbClr val="003356"/>
                </a:solidFill>
                <a:latin typeface="Gotham Bold"/>
                <a:ea typeface="Gotham Bold"/>
                <a:cs typeface="Gotham Bold"/>
                <a:sym typeface="Gotham Bold"/>
              </a:rPr>
              <a:t>obtenidos</a:t>
            </a:r>
            <a:endParaRPr lang="en-US" sz="5584" b="1" u="none" strike="noStrike" dirty="0">
              <a:solidFill>
                <a:srgbClr val="003356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292722" y="2478145"/>
            <a:ext cx="12748766" cy="155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Validación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positiva del cliente, destacando avances en trazabilidad, centralización de información y usabilidad del sistema.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92722" y="7132964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plicación efectiva de la metodología en cascada, favoreciendo la planificación y el control de entregables.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92722" y="4202674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Cu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rva de aprendizaje considerable, pero permitió adquirir dominio en nuevas tecnologías.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92722" y="5608216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Log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ro de una coordinación fluida con la empresa, gracias a la buena disposición y comunicación constante.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92722" y="8765723"/>
            <a:ext cx="12748766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Cont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ribución al proceso de transformación digital de la empresa.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8263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22524" y="978422"/>
            <a:ext cx="13514062" cy="112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9"/>
              </a:lnSpc>
              <a:spcBef>
                <a:spcPct val="0"/>
              </a:spcBef>
            </a:pPr>
            <a:r>
              <a:rPr lang="en-US" sz="5584" b="1" u="none" strike="noStrike">
                <a:solidFill>
                  <a:srgbClr val="003356"/>
                </a:solidFill>
                <a:latin typeface="Gotham Bold"/>
                <a:ea typeface="Gotham Bold"/>
                <a:cs typeface="Gotham Bold"/>
                <a:sym typeface="Gotham Bold"/>
              </a:rPr>
              <a:t>Obstáculos obtenidos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6707" y="-297999"/>
            <a:ext cx="3307479" cy="10584999"/>
            <a:chOff x="0" y="0"/>
            <a:chExt cx="871106" cy="27878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1106" cy="2787819"/>
            </a:xfrm>
            <a:custGeom>
              <a:avLst/>
              <a:gdLst/>
              <a:ahLst/>
              <a:cxnLst/>
              <a:rect l="l" t="t" r="r" b="b"/>
              <a:pathLst>
                <a:path w="871106" h="2787819">
                  <a:moveTo>
                    <a:pt x="0" y="0"/>
                  </a:moveTo>
                  <a:lnTo>
                    <a:pt x="871106" y="0"/>
                  </a:lnTo>
                  <a:lnTo>
                    <a:pt x="871106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00335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871106" cy="2902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00607" y="2265446"/>
            <a:ext cx="1673745" cy="7578983"/>
            <a:chOff x="0" y="0"/>
            <a:chExt cx="440822" cy="19961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0822" cy="1996111"/>
            </a:xfrm>
            <a:custGeom>
              <a:avLst/>
              <a:gdLst/>
              <a:ahLst/>
              <a:cxnLst/>
              <a:rect l="l" t="t" r="r" b="b"/>
              <a:pathLst>
                <a:path w="440822" h="1996111">
                  <a:moveTo>
                    <a:pt x="124889" y="0"/>
                  </a:moveTo>
                  <a:lnTo>
                    <a:pt x="315933" y="0"/>
                  </a:lnTo>
                  <a:cubicBezTo>
                    <a:pt x="384907" y="0"/>
                    <a:pt x="440822" y="55915"/>
                    <a:pt x="440822" y="124889"/>
                  </a:cubicBezTo>
                  <a:lnTo>
                    <a:pt x="440822" y="1871222"/>
                  </a:lnTo>
                  <a:cubicBezTo>
                    <a:pt x="440822" y="1940196"/>
                    <a:pt x="384907" y="1996111"/>
                    <a:pt x="315933" y="1996111"/>
                  </a:cubicBezTo>
                  <a:lnTo>
                    <a:pt x="124889" y="1996111"/>
                  </a:lnTo>
                  <a:cubicBezTo>
                    <a:pt x="55915" y="1996111"/>
                    <a:pt x="0" y="1940196"/>
                    <a:pt x="0" y="1871222"/>
                  </a:cubicBezTo>
                  <a:lnTo>
                    <a:pt x="0" y="124889"/>
                  </a:lnTo>
                  <a:cubicBezTo>
                    <a:pt x="0" y="55915"/>
                    <a:pt x="55915" y="0"/>
                    <a:pt x="124889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40822" cy="2034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874982" y="8715235"/>
            <a:ext cx="746159" cy="727166"/>
          </a:xfrm>
          <a:custGeom>
            <a:avLst/>
            <a:gdLst/>
            <a:ahLst/>
            <a:cxnLst/>
            <a:rect l="l" t="t" r="r" b="b"/>
            <a:pathLst>
              <a:path w="746159" h="727166">
                <a:moveTo>
                  <a:pt x="0" y="0"/>
                </a:moveTo>
                <a:lnTo>
                  <a:pt x="746160" y="0"/>
                </a:lnTo>
                <a:lnTo>
                  <a:pt x="746160" y="727166"/>
                </a:lnTo>
                <a:lnTo>
                  <a:pt x="0" y="727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2720115" y="4163927"/>
            <a:ext cx="872828" cy="967123"/>
          </a:xfrm>
          <a:custGeom>
            <a:avLst/>
            <a:gdLst/>
            <a:ahLst/>
            <a:cxnLst/>
            <a:rect l="l" t="t" r="r" b="b"/>
            <a:pathLst>
              <a:path w="872828" h="967123">
                <a:moveTo>
                  <a:pt x="0" y="0"/>
                </a:moveTo>
                <a:lnTo>
                  <a:pt x="872828" y="0"/>
                </a:lnTo>
                <a:lnTo>
                  <a:pt x="872828" y="967122"/>
                </a:lnTo>
                <a:lnTo>
                  <a:pt x="0" y="967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2572577" y="2496055"/>
            <a:ext cx="1131819" cy="1127575"/>
          </a:xfrm>
          <a:custGeom>
            <a:avLst/>
            <a:gdLst/>
            <a:ahLst/>
            <a:cxnLst/>
            <a:rect l="l" t="t" r="r" b="b"/>
            <a:pathLst>
              <a:path w="1131819" h="1127575">
                <a:moveTo>
                  <a:pt x="0" y="0"/>
                </a:moveTo>
                <a:lnTo>
                  <a:pt x="1131819" y="0"/>
                </a:lnTo>
                <a:lnTo>
                  <a:pt x="1131819" y="1127574"/>
                </a:lnTo>
                <a:lnTo>
                  <a:pt x="0" y="1127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2351411" y="2872469"/>
            <a:ext cx="544152" cy="508096"/>
            <a:chOff x="0" y="0"/>
            <a:chExt cx="143316" cy="133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316" cy="133819"/>
            </a:xfrm>
            <a:custGeom>
              <a:avLst/>
              <a:gdLst/>
              <a:ahLst/>
              <a:cxnLst/>
              <a:rect l="l" t="t" r="r" b="b"/>
              <a:pathLst>
                <a:path w="143316" h="133819">
                  <a:moveTo>
                    <a:pt x="66910" y="0"/>
                  </a:moveTo>
                  <a:lnTo>
                    <a:pt x="76406" y="0"/>
                  </a:lnTo>
                  <a:cubicBezTo>
                    <a:pt x="113359" y="0"/>
                    <a:pt x="143316" y="29957"/>
                    <a:pt x="143316" y="66910"/>
                  </a:cubicBezTo>
                  <a:lnTo>
                    <a:pt x="143316" y="66910"/>
                  </a:lnTo>
                  <a:cubicBezTo>
                    <a:pt x="143316" y="84655"/>
                    <a:pt x="136266" y="101674"/>
                    <a:pt x="123718" y="114222"/>
                  </a:cubicBezTo>
                  <a:cubicBezTo>
                    <a:pt x="111170" y="126770"/>
                    <a:pt x="94152" y="133819"/>
                    <a:pt x="76406" y="133819"/>
                  </a:cubicBezTo>
                  <a:lnTo>
                    <a:pt x="66910" y="133819"/>
                  </a:lnTo>
                  <a:cubicBezTo>
                    <a:pt x="49164" y="133819"/>
                    <a:pt x="32145" y="126770"/>
                    <a:pt x="19597" y="114222"/>
                  </a:cubicBezTo>
                  <a:cubicBezTo>
                    <a:pt x="7049" y="101674"/>
                    <a:pt x="0" y="84655"/>
                    <a:pt x="0" y="66910"/>
                  </a:cubicBezTo>
                  <a:lnTo>
                    <a:pt x="0" y="66910"/>
                  </a:lnTo>
                  <a:cubicBezTo>
                    <a:pt x="0" y="49164"/>
                    <a:pt x="7049" y="32145"/>
                    <a:pt x="19597" y="19597"/>
                  </a:cubicBezTo>
                  <a:cubicBezTo>
                    <a:pt x="32145" y="7049"/>
                    <a:pt x="49164" y="0"/>
                    <a:pt x="66910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3316" cy="171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71111" y="3222155"/>
            <a:ext cx="544152" cy="508096"/>
            <a:chOff x="0" y="0"/>
            <a:chExt cx="143316" cy="133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3316" cy="133819"/>
            </a:xfrm>
            <a:custGeom>
              <a:avLst/>
              <a:gdLst/>
              <a:ahLst/>
              <a:cxnLst/>
              <a:rect l="l" t="t" r="r" b="b"/>
              <a:pathLst>
                <a:path w="143316" h="133819">
                  <a:moveTo>
                    <a:pt x="66910" y="0"/>
                  </a:moveTo>
                  <a:lnTo>
                    <a:pt x="76406" y="0"/>
                  </a:lnTo>
                  <a:cubicBezTo>
                    <a:pt x="113359" y="0"/>
                    <a:pt x="143316" y="29957"/>
                    <a:pt x="143316" y="66910"/>
                  </a:cubicBezTo>
                  <a:lnTo>
                    <a:pt x="143316" y="66910"/>
                  </a:lnTo>
                  <a:cubicBezTo>
                    <a:pt x="143316" y="84655"/>
                    <a:pt x="136266" y="101674"/>
                    <a:pt x="123718" y="114222"/>
                  </a:cubicBezTo>
                  <a:cubicBezTo>
                    <a:pt x="111170" y="126770"/>
                    <a:pt x="94152" y="133819"/>
                    <a:pt x="76406" y="133819"/>
                  </a:cubicBezTo>
                  <a:lnTo>
                    <a:pt x="66910" y="133819"/>
                  </a:lnTo>
                  <a:cubicBezTo>
                    <a:pt x="49164" y="133819"/>
                    <a:pt x="32145" y="126770"/>
                    <a:pt x="19597" y="114222"/>
                  </a:cubicBezTo>
                  <a:cubicBezTo>
                    <a:pt x="7049" y="101674"/>
                    <a:pt x="0" y="84655"/>
                    <a:pt x="0" y="66910"/>
                  </a:cubicBezTo>
                  <a:lnTo>
                    <a:pt x="0" y="66910"/>
                  </a:lnTo>
                  <a:cubicBezTo>
                    <a:pt x="0" y="49164"/>
                    <a:pt x="7049" y="32145"/>
                    <a:pt x="19597" y="19597"/>
                  </a:cubicBezTo>
                  <a:cubicBezTo>
                    <a:pt x="32145" y="7049"/>
                    <a:pt x="49164" y="0"/>
                    <a:pt x="66910" y="0"/>
                  </a:cubicBezTo>
                  <a:close/>
                </a:path>
              </a:pathLst>
            </a:custGeom>
            <a:solidFill>
              <a:srgbClr val="00C8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3316" cy="171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650128" y="7112446"/>
            <a:ext cx="1063793" cy="1063793"/>
          </a:xfrm>
          <a:custGeom>
            <a:avLst/>
            <a:gdLst/>
            <a:ahLst/>
            <a:cxnLst/>
            <a:rect l="l" t="t" r="r" b="b"/>
            <a:pathLst>
              <a:path w="1063793" h="1063793">
                <a:moveTo>
                  <a:pt x="0" y="0"/>
                </a:moveTo>
                <a:lnTo>
                  <a:pt x="1063793" y="0"/>
                </a:lnTo>
                <a:lnTo>
                  <a:pt x="1063793" y="1063793"/>
                </a:lnTo>
                <a:lnTo>
                  <a:pt x="0" y="10637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2608699" y="8768052"/>
            <a:ext cx="146908" cy="621532"/>
          </a:xfrm>
          <a:custGeom>
            <a:avLst/>
            <a:gdLst/>
            <a:ahLst/>
            <a:cxnLst/>
            <a:rect l="l" t="t" r="r" b="b"/>
            <a:pathLst>
              <a:path w="146908" h="621532">
                <a:moveTo>
                  <a:pt x="0" y="0"/>
                </a:moveTo>
                <a:lnTo>
                  <a:pt x="146907" y="0"/>
                </a:lnTo>
                <a:lnTo>
                  <a:pt x="146907" y="621532"/>
                </a:lnTo>
                <a:lnTo>
                  <a:pt x="0" y="6215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2682152" y="5683499"/>
            <a:ext cx="1037876" cy="1037876"/>
          </a:xfrm>
          <a:custGeom>
            <a:avLst/>
            <a:gdLst/>
            <a:ahLst/>
            <a:cxnLst/>
            <a:rect l="l" t="t" r="r" b="b"/>
            <a:pathLst>
              <a:path w="1037876" h="1037876">
                <a:moveTo>
                  <a:pt x="0" y="0"/>
                </a:moveTo>
                <a:lnTo>
                  <a:pt x="1037877" y="0"/>
                </a:lnTo>
                <a:lnTo>
                  <a:pt x="1037877" y="1037877"/>
                </a:lnTo>
                <a:lnTo>
                  <a:pt x="0" y="10378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TextBox 23"/>
          <p:cNvSpPr txBox="1"/>
          <p:nvPr/>
        </p:nvSpPr>
        <p:spPr>
          <a:xfrm>
            <a:off x="448263" y="229346"/>
            <a:ext cx="12568479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endParaRPr lang="en-US" sz="1999" b="1" u="none" strike="noStrike">
              <a:solidFill>
                <a:srgbClr val="6F737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292722" y="2478145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Dificultades in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iciales al definir la metodología más adecuada (transición de ágil a cascada).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22524" y="4087727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Ne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cesidad de ajustar el enfoque de desarrollo por cambios en alcance y disponibilidad de recursos.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92722" y="8525709"/>
            <a:ext cx="12748766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Cu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rva de aprendizaje técnica más alta de lo previsto, debido a herramientas y entornos nuevos.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92722" y="5911266"/>
            <a:ext cx="12748766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Limitaci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ones de tiempo al coincidir con la práctica profesional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22524" y="7342243"/>
            <a:ext cx="12748766" cy="5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imitaciones del hardware.</a:t>
            </a:r>
          </a:p>
        </p:txBody>
      </p:sp>
      <p:sp>
        <p:nvSpPr>
          <p:cNvPr id="29" name="Freeform 29"/>
          <p:cNvSpPr/>
          <p:nvPr/>
        </p:nvSpPr>
        <p:spPr>
          <a:xfrm rot="5400000" flipV="1">
            <a:off x="16800510" y="8869100"/>
            <a:ext cx="1277100" cy="1260846"/>
          </a:xfrm>
          <a:custGeom>
            <a:avLst/>
            <a:gdLst/>
            <a:ahLst/>
            <a:cxnLst/>
            <a:rect l="l" t="t" r="r" b="b"/>
            <a:pathLst>
              <a:path w="1277100" h="1260846">
                <a:moveTo>
                  <a:pt x="0" y="1260846"/>
                </a:moveTo>
                <a:lnTo>
                  <a:pt x="1277100" y="1260846"/>
                </a:lnTo>
                <a:lnTo>
                  <a:pt x="1277100" y="0"/>
                </a:lnTo>
                <a:lnTo>
                  <a:pt x="0" y="0"/>
                </a:lnTo>
                <a:lnTo>
                  <a:pt x="0" y="1260846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918" y="1028700"/>
            <a:ext cx="18609737" cy="9291919"/>
          </a:xfrm>
          <a:custGeom>
            <a:avLst/>
            <a:gdLst/>
            <a:ahLst/>
            <a:cxnLst/>
            <a:rect l="l" t="t" r="r" b="b"/>
            <a:pathLst>
              <a:path w="18609737" h="9291919">
                <a:moveTo>
                  <a:pt x="0" y="0"/>
                </a:moveTo>
                <a:lnTo>
                  <a:pt x="18609736" y="0"/>
                </a:lnTo>
                <a:lnTo>
                  <a:pt x="18609736" y="9291919"/>
                </a:lnTo>
                <a:lnTo>
                  <a:pt x="0" y="9291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62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4" name="Freeform 4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64760" y="3398630"/>
            <a:ext cx="7268399" cy="4661793"/>
          </a:xfrm>
          <a:custGeom>
            <a:avLst/>
            <a:gdLst/>
            <a:ahLst/>
            <a:cxnLst/>
            <a:rect l="l" t="t" r="r" b="b"/>
            <a:pathLst>
              <a:path w="7268399" h="4661793">
                <a:moveTo>
                  <a:pt x="0" y="0"/>
                </a:moveTo>
                <a:lnTo>
                  <a:pt x="7268399" y="0"/>
                </a:lnTo>
                <a:lnTo>
                  <a:pt x="7268399" y="4661792"/>
                </a:lnTo>
                <a:lnTo>
                  <a:pt x="0" y="4661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643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451986" y="1148815"/>
            <a:ext cx="6175811" cy="112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9"/>
              </a:lnSpc>
              <a:spcBef>
                <a:spcPct val="0"/>
              </a:spcBef>
            </a:pPr>
            <a:r>
              <a:rPr lang="en-US" sz="5584" b="1" u="none" strike="noStrike">
                <a:solidFill>
                  <a:srgbClr val="003356"/>
                </a:solidFill>
                <a:latin typeface="Gotham Bold"/>
                <a:ea typeface="Gotham Bold"/>
                <a:cs typeface="Gotham Bold"/>
                <a:sym typeface="Gotham Bold"/>
              </a:rPr>
              <a:t>Conclusión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57374" y="238871"/>
            <a:ext cx="4712109" cy="1178028"/>
            <a:chOff x="0" y="0"/>
            <a:chExt cx="6282812" cy="1570704"/>
          </a:xfrm>
        </p:grpSpPr>
        <p:sp>
          <p:nvSpPr>
            <p:cNvPr id="5" name="Freeform 5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8238" y="229346"/>
            <a:ext cx="12568479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6F73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"Sistema de Gestión de procesos de reclutamiento y selección"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62401" y="2672133"/>
            <a:ext cx="9107109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 camino 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al cumplimiento de los objetivos específicos del proyecto.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2401" y="4097007"/>
            <a:ext cx="9107109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Tra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nsformación del proceso manual en un sistema centralizado y trazable.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2401" y="5653326"/>
            <a:ext cx="9107109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Impacto e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n la organización: eficiencia, orden y mejor toma de decisiones.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2401" y="7186914"/>
            <a:ext cx="9107109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Valor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agregado: alertas automáticas y reportes estratégicos.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62401" y="8659662"/>
            <a:ext cx="9107109" cy="10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844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Proyecto</a:t>
            </a:r>
            <a:r>
              <a:rPr lang="en-US" sz="2844" u="none" strike="noStrike" spc="85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académico–profesional exitoso con aporte real al cliente.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0421" y="2680446"/>
            <a:ext cx="1089593" cy="1089593"/>
            <a:chOff x="0" y="0"/>
            <a:chExt cx="1452791" cy="14527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52791" cy="1452791"/>
            </a:xfrm>
            <a:custGeom>
              <a:avLst/>
              <a:gdLst/>
              <a:ahLst/>
              <a:cxnLst/>
              <a:rect l="l" t="t" r="r" b="b"/>
              <a:pathLst>
                <a:path w="1452791" h="1452791">
                  <a:moveTo>
                    <a:pt x="0" y="0"/>
                  </a:moveTo>
                  <a:lnTo>
                    <a:pt x="1452791" y="0"/>
                  </a:lnTo>
                  <a:lnTo>
                    <a:pt x="1452791" y="1452791"/>
                  </a:lnTo>
                  <a:lnTo>
                    <a:pt x="0" y="145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07957" y="207957"/>
              <a:ext cx="1036878" cy="1036878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82573" y="382573"/>
              <a:ext cx="687644" cy="687644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80421" y="4137098"/>
            <a:ext cx="1089593" cy="1089593"/>
            <a:chOff x="0" y="0"/>
            <a:chExt cx="1452791" cy="14527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52791" cy="1452791"/>
            </a:xfrm>
            <a:custGeom>
              <a:avLst/>
              <a:gdLst/>
              <a:ahLst/>
              <a:cxnLst/>
              <a:rect l="l" t="t" r="r" b="b"/>
              <a:pathLst>
                <a:path w="1452791" h="1452791">
                  <a:moveTo>
                    <a:pt x="0" y="0"/>
                  </a:moveTo>
                  <a:lnTo>
                    <a:pt x="1452791" y="0"/>
                  </a:lnTo>
                  <a:lnTo>
                    <a:pt x="1452791" y="1452791"/>
                  </a:lnTo>
                  <a:lnTo>
                    <a:pt x="0" y="145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207957" y="207957"/>
              <a:ext cx="1036878" cy="103687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82573" y="382573"/>
              <a:ext cx="687644" cy="687644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380421" y="5661638"/>
            <a:ext cx="1089593" cy="1089593"/>
            <a:chOff x="0" y="0"/>
            <a:chExt cx="1452791" cy="14527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52791" cy="1452791"/>
            </a:xfrm>
            <a:custGeom>
              <a:avLst/>
              <a:gdLst/>
              <a:ahLst/>
              <a:cxnLst/>
              <a:rect l="l" t="t" r="r" b="b"/>
              <a:pathLst>
                <a:path w="1452791" h="1452791">
                  <a:moveTo>
                    <a:pt x="0" y="0"/>
                  </a:moveTo>
                  <a:lnTo>
                    <a:pt x="1452791" y="0"/>
                  </a:lnTo>
                  <a:lnTo>
                    <a:pt x="1452791" y="1452791"/>
                  </a:lnTo>
                  <a:lnTo>
                    <a:pt x="0" y="145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07957" y="207957"/>
              <a:ext cx="1036878" cy="1036878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82573" y="382573"/>
              <a:ext cx="687644" cy="687644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380421" y="7160807"/>
            <a:ext cx="1089593" cy="1089593"/>
            <a:chOff x="0" y="0"/>
            <a:chExt cx="1452791" cy="145279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52791" cy="1452791"/>
            </a:xfrm>
            <a:custGeom>
              <a:avLst/>
              <a:gdLst/>
              <a:ahLst/>
              <a:cxnLst/>
              <a:rect l="l" t="t" r="r" b="b"/>
              <a:pathLst>
                <a:path w="1452791" h="1452791">
                  <a:moveTo>
                    <a:pt x="0" y="0"/>
                  </a:moveTo>
                  <a:lnTo>
                    <a:pt x="1452791" y="0"/>
                  </a:lnTo>
                  <a:lnTo>
                    <a:pt x="1452791" y="1452791"/>
                  </a:lnTo>
                  <a:lnTo>
                    <a:pt x="0" y="145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207957" y="207957"/>
              <a:ext cx="1036878" cy="1036878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82573" y="382573"/>
              <a:ext cx="687644" cy="687644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0421" y="8688550"/>
            <a:ext cx="1089593" cy="1089593"/>
            <a:chOff x="0" y="0"/>
            <a:chExt cx="1452791" cy="145279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52791" cy="1452791"/>
            </a:xfrm>
            <a:custGeom>
              <a:avLst/>
              <a:gdLst/>
              <a:ahLst/>
              <a:cxnLst/>
              <a:rect l="l" t="t" r="r" b="b"/>
              <a:pathLst>
                <a:path w="1452791" h="1452791">
                  <a:moveTo>
                    <a:pt x="0" y="0"/>
                  </a:moveTo>
                  <a:lnTo>
                    <a:pt x="1452791" y="0"/>
                  </a:lnTo>
                  <a:lnTo>
                    <a:pt x="1452791" y="1452791"/>
                  </a:lnTo>
                  <a:lnTo>
                    <a:pt x="0" y="145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207957" y="207957"/>
              <a:ext cx="1036878" cy="1036878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35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382573" y="382573"/>
              <a:ext cx="687644" cy="687644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37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2261</Words>
  <Application>Microsoft Office PowerPoint</Application>
  <PresentationFormat>Personalizado</PresentationFormat>
  <Paragraphs>226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4" baseType="lpstr">
      <vt:lpstr>Codec Pro Ultra-Bold</vt:lpstr>
      <vt:lpstr>Montserrat</vt:lpstr>
      <vt:lpstr>Gotham</vt:lpstr>
      <vt:lpstr>Open Sans</vt:lpstr>
      <vt:lpstr>Montserrat Bold</vt:lpstr>
      <vt:lpstr>Arial</vt:lpstr>
      <vt:lpstr>Montserrat Ultra-Bold</vt:lpstr>
      <vt:lpstr>Open Sauce Bold</vt:lpstr>
      <vt:lpstr>Garet Ultra-Bold</vt:lpstr>
      <vt:lpstr>Gotham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 FINAL CAPSTONE</dc:title>
  <cp:lastModifiedBy>Niko N</cp:lastModifiedBy>
  <cp:revision>6</cp:revision>
  <dcterms:created xsi:type="dcterms:W3CDTF">2006-08-16T00:00:00Z</dcterms:created>
  <dcterms:modified xsi:type="dcterms:W3CDTF">2025-12-07T16:32:56Z</dcterms:modified>
  <dc:identifier>DAG4PQ67ftk</dc:identifier>
</cp:coreProperties>
</file>